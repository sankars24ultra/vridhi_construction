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84" r:id="rId36"/>
    <p:sldId id="260" r:id="rId12"/>
    <p:sldId id="285" r:id="rId37"/>
    <p:sldId id="261" r:id="rId13"/>
    <p:sldId id="286" r:id="rId38"/>
    <p:sldId id="262" r:id="rId14"/>
    <p:sldId id="287" r:id="rId39"/>
    <p:sldId id="263" r:id="rId15"/>
    <p:sldId id="288" r:id="rId40"/>
    <p:sldId id="264" r:id="rId16"/>
    <p:sldId id="289" r:id="rId41"/>
    <p:sldId id="265" r:id="rId17"/>
    <p:sldId id="290" r:id="rId42"/>
    <p:sldId id="266" r:id="rId18"/>
    <p:sldId id="291" r:id="rId43"/>
    <p:sldId id="267" r:id="rId19"/>
    <p:sldId id="292" r:id="rId44"/>
    <p:sldId id="268" r:id="rId20"/>
    <p:sldId id="293" r:id="rId45"/>
    <p:sldId id="269" r:id="rId21"/>
    <p:sldId id="294" r:id="rId46"/>
    <p:sldId id="270" r:id="rId22"/>
    <p:sldId id="295" r:id="rId47"/>
    <p:sldId id="271" r:id="rId23"/>
    <p:sldId id="272" r:id="rId24"/>
    <p:sldId id="273" r:id="rId25"/>
    <p:sldId id="296" r:id="rId48"/>
    <p:sldId id="274" r:id="rId26"/>
    <p:sldId id="297" r:id="rId49"/>
    <p:sldId id="275" r:id="rId27"/>
    <p:sldId id="276" r:id="rId28"/>
    <p:sldId id="298" r:id="rId50"/>
    <p:sldId id="277" r:id="rId29"/>
    <p:sldId id="299" r:id="rId51"/>
    <p:sldId id="278" r:id="rId30"/>
    <p:sldId id="279" r:id="rId31"/>
    <p:sldId id="280" r:id="rId32"/>
    <p:sldId id="281" r:id="rId33"/>
    <p:sldId id="282" r:id="rId34"/>
    <p:sldId id="283" r:id="rId3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Vridhi</a:t>
            </a:r>
          </a:p>
          <a:p/>
          <a:p>
            <a:r>
              <a:t>This deck describes the currently implemented React/FastAPI application, not the earlier HTML prototype. It uses editable schematic elements rather than live screenshots. All amounts and examples are illustrative. This is source-reviewed documentation, not a new end-to-end certification. Use the companion guides for detailed instructions and current boundaries.</a:t>
            </a:r>
          </a:p>
          <a:p/>
          <a:p>
            <a:r>
              <a:t>Companion documentation / source: README.md; 01-getting-started.md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project, connected records</a:t>
            </a:r>
          </a:p>
          <a:p/>
          <a:p>
            <a:r>
              <a:t>A PO records a commitment, not a stock receipt. A client receipt is not a vendor payment. Labor earnings and certified claims contribute to cost, while their payments describe cash settlement. Overview combines selected records rather than acting as a complete general ledger. Users is the standalone account directory and is not scoped to the selected project.</a:t>
            </a:r>
          </a:p>
          <a:p/>
          <a:p>
            <a:r>
              <a:t>Companion documentation / source: 02-module-guide.md; 05-reports-and-calculations.md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 in and orient yourself</a:t>
            </a:r>
          </a:p>
          <a:p/>
          <a:p>
            <a:r>
              <a:t>Startup creates missing mapped tables and seeds an empty database, but existing schemas still require Alembic migrations. User passwords are stored as Argon2id hashes. A correct password for a disabled account produces an explicit reactivation message. Password reset delivery by email is not presented as an available workflow; an authorized user manager performs the reset.</a:t>
            </a:r>
          </a:p>
          <a:p/>
          <a:p>
            <a:r>
              <a:t>Companion documentation / source: 01-getting-started.md; 08-operations-and-troubleshooting.md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workspace at a glance</a:t>
            </a:r>
          </a:p>
          <a:p/>
          <a:p>
            <a:r>
              <a:t>The project picker closes on selection, outside click or Escape. Selecting a new project re-evaluates module permissions. Audit Log needs both audit permission and an accessible selected project. The personal notepad is stored per account in the browser tab session rather than in PostgreSQL. Theme preferences use local storage.</a:t>
            </a:r>
          </a:p>
          <a:p/>
          <a:p>
            <a:r>
              <a:t>Companion documentation / source: 01-getting-started.md; App.tsx</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Projects</a:t>
            </a:r>
          </a:p>
          <a:p/>
          <a:p>
            <a:r>
              <a:t>This is a dedicated abstract slide for the Projects menu. New Project is visible in the portfolio UI, but its endpoint requires Overview write authorization. A global account with an appropriate Overview profile is the practical project-independent creation path. Do not interpret a displayed creation button as evidence that any account can create projects.</a:t>
            </a:r>
          </a:p>
          <a:p/>
          <a:p>
            <a:r>
              <a:t>Companion documentation / source: 02-module-guide.md; 03-workflow-walkthroughs.md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a:t>
            </a:r>
          </a:p>
          <a:p/>
          <a:p>
            <a:r>
              <a:t>Quick Entry currently opens purchase-order creation, so the actual save also needs the Procurement create/edit grant. Plan upload has its own action grant. An Overview-only account with export permission should not be blocked merely because Procurement or Cash flow is unavailable. The detailed calculation guide explains the basis of each number.</a:t>
            </a:r>
          </a:p>
          <a:p/>
          <a:p>
            <a:r>
              <a:t>Companion documentation / source: 02-module-guide.md; 05-reports-and-calculations.md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Procurement</a:t>
            </a:r>
          </a:p>
          <a:p/>
          <a:p>
            <a:r>
              <a:t>PO amounts are based on line quantities and unit prices. The API prevents initial payment exceeding the total and additional payments exceeding the balance. Optional image formats are PNG/JPG/WEBP up to the configured 10 MB limit. Procurement export explicitly fetches all project orders, rather than carrying the current screen search/status filter.</a:t>
            </a:r>
          </a:p>
          <a:p/>
          <a:p>
            <a:r>
              <a:t>Companion documentation / source: 02-module-guide.md; 03-workflow-walkthroughs.md; 05-reports-and-calculations.md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Inventory</a:t>
            </a:r>
          </a:p>
          <a:p/>
          <a:p>
            <a:r>
              <a:t>A PO makes a material available in the procurement-linked register, but it is not proof of receipt. Record references and notes so physical events can be traced later. Mixed units must not be treated as one meaningful total quantity. This report prints the rendered register, so users should check filters, page size and preview coverage.</a:t>
            </a:r>
          </a:p>
          <a:p/>
          <a:p>
            <a:r>
              <a:t>Companion documentation / source: 02-module-guide.md; 03-workflow-walkthroughs.md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 flow</a:t>
            </a:r>
          </a:p>
          <a:p/>
          <a:p>
            <a:r>
              <a:t>Allocated receipts cannot exceed an application's remaining amount. Vendor payments and labor payments are not client receipts. The existing cash summary returns zero retainage values; do not present a complete retention-release workflow as implemented. Export scope depends on the rendered register filters/pages.</a:t>
            </a:r>
          </a:p>
          <a:p/>
          <a:p>
            <a:r>
              <a:t>Companion documentation / source: 02-module-guide.md; 05-reports-and-calculations.md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Labor and Wages</a:t>
            </a:r>
          </a:p>
          <a:p/>
          <a:p>
            <a:r>
              <a:t>The page contains multiple independently paginated sections: contracts, review items, contract-change history, documents, workers, work entries and wages. Grants distinguish contract creation, worker actions, work logging, paying and downloads. Review endpoints map to the relevant contract/work action rather than old job-title roles.</a:t>
            </a:r>
          </a:p>
          <a:p/>
          <a:p>
            <a:r>
              <a:t>Companion documentation / source: 02-module-guide.md; 04-users-and-permissions.md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a:t>
            </a:r>
          </a:p>
          <a:p/>
          <a:p>
            <a:r>
              <a:t>Password reset and deactivation revoke existing sessions. Reset/status/delete cannot target the current account. User History starts at 5 rows, with 10/20/50 options, and excludes login activities. It shows recorded actions by or affecting the user, which is different from the selected project's Audit Log.</a:t>
            </a:r>
          </a:p>
          <a:p/>
          <a:p>
            <a:r>
              <a:t>Companion documentation / source: 02-module-guide.md; 04-users-and-permissions.md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Log</a:t>
            </a:r>
          </a:p>
          <a:p/>
          <a:p>
            <a:r>
              <a:t>Audit Access and Export are standalone account grants, but project access is still necessary. Record is the entity type and Reference is its internal ID. Some historical events have no full before/after snapshot. This is not a complete click recorder or a reliable list of every failed operation.</a:t>
            </a:r>
          </a:p>
          <a:p/>
          <a:p>
            <a:r>
              <a:t>Companion documentation / source: 02-module-guide.md; 05-reports-and-calculations.md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Project: from form to workspace</a:t>
            </a:r>
          </a:p>
          <a:p/>
          <a:p>
            <a:r>
              <a:t>The API authorizes creation through Overview write access. An initial plan sets a starting document, not a separate revised-value event. Uploaded original bytes live in the project's data/uploads directory; PostgreSQL holds metadata. Creating a project does not remove the need to configure team membership profiles.</a:t>
            </a:r>
          </a:p>
          <a:p/>
          <a:p>
            <a:r>
              <a:t>Companion documentation / source: 03-workflow-walkthroughs.md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 project status safely</a:t>
            </a:r>
          </a:p>
          <a:p/>
          <a:p>
            <a:r>
              <a:t>The server uses the expected project version and the transition map, not arbitrary status changes. Keep the essential explanation in the required comment because the history persists that comment. The hold-reason control does not replace a meaningful status comment. Status transitions do not automatically imply every financial record has been reconciled.</a:t>
            </a:r>
          </a:p>
          <a:p/>
          <a:p>
            <a:r>
              <a:t>Companion documentation / source: 03-workflow-walkthroughs.md; models.py PROJECT_STATUS_TRANSITIONS</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documents and project value</a:t>
            </a:r>
          </a:p>
          <a:p/>
          <a:p>
            <a:r>
              <a:t>The upload endpoint validates the current estimate against the contract and checks file type/size/content. Supported revised plan types are PDF/PNG/JPG/DOCX. File bytes and database metadata must both be backed up. Completed/Cancelled projects reject these new plan uploads.</a:t>
            </a:r>
          </a:p>
          <a:p/>
          <a:p>
            <a:r>
              <a:t>Companion documentation / source: 03-workflow-walkthroughs.md; 07-data-and-persistence.md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Purchasing to stock: two separate events</a:t>
            </a:r>
          </a:p>
          <a:p/>
          <a:p>
            <a:r>
              <a:t>For demonstration, use a test material and small quantities. Save a PO, receive only part of its quantity, then record some use. Compare ordered/open/received/consumed/available rows. The overview material cost uses orders, while inventory remaining value measures a different basis.</a:t>
            </a:r>
          </a:p>
          <a:p/>
          <a:p>
            <a:r>
              <a:t>Companion documentation / source: 03-workflow-walkthroughs.md; 05-reports-and-calculations.md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Labor: choose the correct cost path</a:t>
            </a:r>
          </a:p>
          <a:p/>
          <a:p>
            <a:r>
              <a:t>A full subcontract contract value is not automatically the same as certified work cost. Pending or rejected claims should not be treated as certified earnings. Supporting files and history downloads require their own action grants. The application is not a replacement for an independently audited payroll/accounting system.</a:t>
            </a:r>
          </a:p>
          <a:p/>
          <a:p>
            <a:r>
              <a:t>Companion documentation / source: 03-workflow-walkthroughs.md; 05-reports-and-calculations.md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Add/Edit User: two steps</a:t>
            </a:r>
          </a:p>
          <a:p/>
          <a:p>
            <a:r>
              <a:t>Email is optional but validated and unique when supplied. Usernames permit letters/numbers/dot/underscore/hyphen and are validated by schema and route. Password hashes and session tokens are never shown in View. A user manager with Add/Edit should be trusted to assign access; least privilege should guide grants.</a:t>
            </a:r>
          </a:p>
          <a:p/>
          <a:p>
            <a:r>
              <a:t>Companion documentation / source: 04-users-and-permissions.md; 03-workflow-walkthroughs.md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permissions and access scopes</a:t>
            </a:r>
          </a:p>
          <a:p/>
          <a:p>
            <a:r>
              <a:t>Shared profiles are stored on the selected memberships; they do not automatically assign future projects. Blocked is the safe default for ordinary new project permission profiles. Create/Edit PO is combined but Add Payment remains separate. Quick Entry is a shortcut whose save still follows destination API authorization.</a:t>
            </a:r>
          </a:p>
          <a:p/>
          <a:p>
            <a:r>
              <a:t>Companion documentation / source: 04-users-and-permissions.md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Standalone Users and Audit permissions</a:t>
            </a:r>
          </a:p>
          <a:p/>
          <a:p>
            <a:r>
              <a:t>Users directory access is not filtered by the project selector. Reset and deactivation revoke sessions; deletion is a soft deletion retaining historical relationships. User History excludes login events and starts with 5 rows, unlike project Audit Log's default 10. Do not grant administrative Add/Edit merely to allow a user to see account details.</a:t>
            </a:r>
          </a:p>
          <a:p/>
          <a:p>
            <a:r>
              <a:t>Companion documentation / source: 04-users-and-permissions.md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Investigate a time interval</a:t>
            </a:r>
          </a:p>
          <a:p/>
          <a:p>
            <a:r>
              <a:t>Closing the date-range editor before Apply preserves the previous filter. Cancel in the time popup preserves the prior confirmed time. The calendar highlights today and uses the application theme. Record and Reference help identify affected entities; readable details depend on what the event actually captured.</a:t>
            </a:r>
          </a:p>
          <a:p/>
          <a:p>
            <a:r>
              <a:t>Companion documentation / source: 03-workflow-walkthroughs.md; 05-reports-and-calculations.md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Export Report: how PDF is created</a:t>
            </a:r>
          </a:p>
          <a:p/>
          <a:p>
            <a:r>
              <a:t>The shared header still uses a Company Address placeholder, which should be replaced in the application before distributing official external documents. Personal Notes and navigation are print-hidden. Browser/OS naming and print controls vary; the app does not provide guaranteed server-rendered PDFs.</a:t>
            </a:r>
          </a:p>
          <a:p/>
          <a:p>
            <a:r>
              <a:t>Companion documentation / source: 05-reports-and-calculations.md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 what your report includes</a:t>
            </a:r>
          </a:p>
          <a:p/>
          <a:p>
            <a:r>
              <a:t>This is an intentionally explicit source-reviewed boundary. Only some export handlers fetch all pages. Printing CSS cannot manufacture rows that were not rendered. Users should choose larger page sizes or separate reports where appropriate. The Audit API retains a CSV technical option, but the current UI Export Report invokes browser PDF printing.</a:t>
            </a:r>
          </a:p>
          <a:p/>
          <a:p>
            <a:r>
              <a:t>Companion documentation / source: 05-reports-and-calculations.md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 the financial numbers</a:t>
            </a:r>
          </a:p>
          <a:p/>
          <a:p>
            <a:r>
              <a:t>All figures are illustrative, not current live balances. The current actual-cost basis is materials ordered plus direct work earnings plus certified labor claims. Projected margin is not final audited profit or cash balance. Mixed stock units require care. Full formula definitions are in the companion reporting guide.</a:t>
            </a:r>
          </a:p>
          <a:p/>
          <a:p>
            <a:r>
              <a:t>Companion documentation / source: 05-reports-and-calculations.md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Details, Notes and mobile work</a:t>
            </a:r>
          </a:p>
          <a:p/>
          <a:p>
            <a:r>
              <a:t>Notes survive refresh in the same session but can disappear on tab/session closure or storage restrictions. They are excluded from printing. Account-specific storage prevents deliberate reuse between user IDs; users should still sign out on shared machines. A failed sign-out request does not deliberately clear notes before success.</a:t>
            </a:r>
          </a:p>
          <a:p/>
          <a:p>
            <a:r>
              <a:t>Companion documentation / source: 01-getting-started.md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and safe storage</a:t>
            </a:r>
          </a:p>
          <a:p/>
          <a:p>
            <a:r>
              <a:t>The live API explorer at /docs is the authority for exact endpoint contracts. Route families separate projects, procurement, operations, labor, admin, audit and system services. Diagnostic JSONL logs are different from the audit_events business table. Legacy role/timecard tables may remain without representing current menus.</a:t>
            </a:r>
          </a:p>
          <a:p/>
          <a:p>
            <a:r>
              <a:t>Companion documentation / source: 06-architecture-and-api-map.md; 07-data-and-persistence.md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run, backup and support</a:t>
            </a:r>
          </a:p>
          <a:p/>
          <a:p>
            <a:r>
              <a:t>Local PostgreSQL normally uses 5432 and the optional Docker service uses 5433. Changing DATABASE_URL does not copy data. A backend started without reload may need a managed restart after code changes. Secure secrets, configure HTTPS/cookies/origins and service supervision before network exposure. Known bootstrap passwords should not appear in the deck.</a:t>
            </a:r>
          </a:p>
          <a:p/>
          <a:p>
            <a:r>
              <a:t>Companion documentation / source: 08-operations-and-troubleshooting.md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checklist and next steps</a:t>
            </a:r>
          </a:p>
          <a:p/>
          <a:p>
            <a:r>
              <a:t>Demonstrate a read-only account after the operational walkthrough to show permission differences. Confirm no real accounts or financial records are modified for training. Use the evidence checklist to plan UAT, restore drills and report reconciliation. Documentation must be refreshed when implementation changes; it is not a production-completeness estimate.</a:t>
            </a:r>
          </a:p>
          <a:p/>
          <a:p>
            <a:r>
              <a:t>Companion documentation / source: 09-evidence-and-acceptance.md; 10-presentation-outline.md</a:t>
            </a:r>
          </a:p>
          <a:p>
            <a:r>
              <a:t>Demonstrations should use a training database. Do not publish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Workspace: find your controls</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Left: The selected project and permitted menus.</a:t>
            </a:r>
          </a:p>
          <a:p>
            <a:r>
              <a:t>Top: Theme, Notes, My Details and Sign out.</a:t>
            </a:r>
          </a:p>
          <a:p>
            <a:r>
              <a:t>Main area: Project context, actions and current data.</a:t>
            </a:r>
          </a:p>
          <a:p/>
          <a:p>
            <a:r>
              <a:t>Pair with original explanation slide 4.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Projects: portfolio screen</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Status groups: Planning, Active, On Hold and completed work.</a:t>
            </a:r>
          </a:p>
          <a:p>
            <a:r>
              <a:t>Project cards: Name, location, value and recorded cost.</a:t>
            </a:r>
          </a:p>
          <a:p>
            <a:r>
              <a:t>New project: Starts the setup form, subject to authorization.</a:t>
            </a:r>
          </a:p>
          <a:p/>
          <a:p>
            <a:r>
              <a:t>Pair with original explanation slide 5.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 dashboard screen</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KPIs: Contract, client receipts, cost and margin.</a:t>
            </a:r>
          </a:p>
          <a:p>
            <a:r>
              <a:t>Charts: Financial position and recorded cost mix.</a:t>
            </a:r>
          </a:p>
          <a:p>
            <a:r>
              <a:t>Actions: Status, export and Quick Entry depend on permission.</a:t>
            </a:r>
          </a:p>
          <a:p/>
          <a:p>
            <a:r>
              <a:t>Pair with original explanation slide 6.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Procurement: register screen</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Totals: Ordered, paid and outstanding vendor amounts.</a:t>
            </a:r>
          </a:p>
          <a:p>
            <a:r>
              <a:t>Register: Search and payment filters above PO rows.</a:t>
            </a:r>
          </a:p>
          <a:p>
            <a:r>
              <a:t>Row icons: Edit, payment and history follow grants and record state.</a:t>
            </a:r>
          </a:p>
          <a:p/>
          <a:p>
            <a:r>
              <a:t>Pair with original explanation slide 7.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Inventory: material register</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Stock: Ordered, received, used and available quantities.</a:t>
            </a:r>
          </a:p>
          <a:p>
            <a:r>
              <a:t>Actions: Receive Stock and Stock ledger in the header.</a:t>
            </a:r>
          </a:p>
          <a:p>
            <a:r>
              <a:t>Verify: Check units and source references before saving.</a:t>
            </a:r>
          </a:p>
          <a:p/>
          <a:p>
            <a:r>
              <a:t>Pair with original explanation slide 8.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 flow: client money screen</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Client totals: Contract, billed, received and outstanding.</a:t>
            </a:r>
          </a:p>
          <a:p>
            <a:r>
              <a:t>Applications: Client billing entries and allocated receipts.</a:t>
            </a:r>
          </a:p>
          <a:p>
            <a:r>
              <a:t>Actions: New application and Record receipt are separate grants.</a:t>
            </a:r>
          </a:p>
          <a:p/>
          <a:p>
            <a:r>
              <a:t>Pair with original explanation slide 9.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Labor and Wages: contracts and workers</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Two paths: Direct workers and subcontract agreements.</a:t>
            </a:r>
          </a:p>
          <a:p>
            <a:r>
              <a:t>Review: Claims and contract changes have review states.</a:t>
            </a:r>
          </a:p>
          <a:p>
            <a:r>
              <a:t>History: Expand sections and inspect files, work and payments.</a:t>
            </a:r>
          </a:p>
          <a:p/>
          <a:p>
            <a:r>
              <a:t>Pair with original explanation slide 10.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 directory and action icons</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Directory: All users, not just the selected project's members.</a:t>
            </a:r>
          </a:p>
          <a:p>
            <a:r>
              <a:t>Icons: View, Edit, Reset, Status, Delete and History.</a:t>
            </a:r>
          </a:p>
          <a:p>
            <a:r>
              <a:t>Authorization: Only granted actions are available.</a:t>
            </a:r>
          </a:p>
          <a:p/>
          <a:p>
            <a:r>
              <a:t>Pair with original explanation slide 11.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Log: project activity table</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Newest first: Actor, timestamp, activity and affected record.</a:t>
            </a:r>
          </a:p>
          <a:p>
            <a:r>
              <a:t>Tools: Time range, clear filters and text search.</a:t>
            </a:r>
          </a:p>
          <a:p>
            <a:r>
              <a:t>Export: All matching project records, not only this page.</a:t>
            </a:r>
          </a:p>
          <a:p/>
          <a:p>
            <a:r>
              <a:t>Pair with original explanation slide 12.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Project: actual form</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Identity: Enter project name and location.</a:t>
            </a:r>
          </a:p>
          <a:p>
            <a:r>
              <a:t>Baseline: Budget, contract value, date and initial status.</a:t>
            </a:r>
          </a:p>
          <a:p>
            <a:r>
              <a:t>Optional file: Choose, paste or drop an initial plan document.</a:t>
            </a:r>
          </a:p>
          <a:p/>
          <a:p>
            <a:r>
              <a:t>Pair with original explanation slide 13.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status: actual dialog</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Current state: Shown before selecting the next status.</a:t>
            </a:r>
          </a:p>
          <a:p>
            <a:r>
              <a:t>Comment: Explain the business reason for the change.</a:t>
            </a:r>
          </a:p>
          <a:p>
            <a:r>
              <a:t>Conditional: Hold reason or completion confirmation may be required.</a:t>
            </a:r>
          </a:p>
          <a:p/>
          <a:p>
            <a:r>
              <a:t>Pair with original explanation slide 14.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documents: history and download</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File metadata: Filename, uploader, time and comments.</a:t>
            </a:r>
          </a:p>
          <a:p>
            <a:r>
              <a:t>Download: Icon retrieves the original file.</a:t>
            </a:r>
          </a:p>
          <a:p>
            <a:r>
              <a:t>Value history: Revised plans can change the recorded estimate.</a:t>
            </a:r>
          </a:p>
          <a:p/>
          <a:p>
            <a:r>
              <a:t>Pair with original explanation slide 15.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wizard: account details</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Required: Name, unique username and matching password.</a:t>
            </a:r>
          </a:p>
          <a:p>
            <a:r>
              <a:t>Optional: Work email and contact number.</a:t>
            </a:r>
          </a:p>
          <a:p>
            <a:r>
              <a:t>Next: Continue to access settings; do not save this sample.</a:t>
            </a:r>
          </a:p>
          <a:p/>
          <a:p>
            <a:r>
              <a:t>Pair with original explanation slide 18.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wizard: access settings</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Project scope: Global, shared selected, or individual profiles.</a:t>
            </a:r>
          </a:p>
          <a:p>
            <a:r>
              <a:t>Assigned projects: Checkboxes include lifecycle status.</a:t>
            </a:r>
          </a:p>
          <a:p>
            <a:r>
              <a:t>Separate sections: Audit Log and Users page permissions.</a:t>
            </a:r>
          </a:p>
          <a:p/>
          <a:p>
            <a:r>
              <a:t>Pair with original explanation slide 19.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filter: date range and time</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Shortcuts: Today, Yesterday, Last 7 days and This month.</a:t>
            </a:r>
          </a:p>
          <a:p>
            <a:r>
              <a:t>Range: Select dates, then From and To times.</a:t>
            </a:r>
          </a:p>
          <a:p>
            <a:r>
              <a:t>Apply: Commits the draft range to search and export.</a:t>
            </a:r>
          </a:p>
          <a:p/>
          <a:p>
            <a:r>
              <a:t>Pair with original explanation slide 21.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Export: sample printable report</a:t>
            </a:r>
          </a:p>
          <a:p/>
          <a:p>
            <a:r>
              <a:t>This is a screenshot of the real frontend rendered locally with synthetic browser-intercepted API responses. It is not a live production database screenshot. No account or business records were changed. Some screens are cropped to focus on their relevant content; lower sections continue below the visible area.</a:t>
            </a:r>
          </a:p>
          <a:p/>
          <a:p>
            <a:r>
              <a:t>Header: Company logo/name, report, project and export date.</a:t>
            </a:r>
          </a:p>
          <a:p>
            <a:r>
              <a:t>Day palette: White surfaces, even from Dark screen mode.</a:t>
            </a:r>
          </a:p>
          <a:p>
            <a:r>
              <a:t>Save: Browser Print &gt; Save as PDF; check preview coverage.</a:t>
            </a:r>
          </a:p>
          <a:p/>
          <a:p>
            <a:r>
              <a:t>Pair with original explanation slide 22. For complete steps, consult the companion documentation.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8.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3.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01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SYSTEM INTRODUCTION</a:t>
            </a:r>
          </a:p>
        </p:txBody>
      </p:sp>
      <p:sp>
        <p:nvSpPr>
          <p:cNvPr id="7" name="TextBox 6"/>
          <p:cNvSpPr txBox="1"/>
          <p:nvPr/>
        </p:nvSpPr>
        <p:spPr>
          <a:xfrm>
            <a:off x="530352" y="1124712"/>
            <a:ext cx="1088136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Vridhi</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Project operations, connected</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From project setup to review</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Purchasing, materials, client receipts and labor</a:t>
            </a:r>
          </a:p>
          <a:p>
            <a:pPr>
              <a:lnSpc>
                <a:spcPts val="2100"/>
              </a:lnSpc>
              <a:spcAft>
                <a:spcPts val="0"/>
              </a:spcAft>
              <a:defRPr sz="1700" b="0">
                <a:solidFill>
                  <a:srgbClr val="1E3348"/>
                </a:solidFill>
                <a:latin typeface="Arial"/>
              </a:defRPr>
            </a:pPr>
            <a:r>
              <a:t>in one workspace.</a:t>
            </a:r>
          </a:p>
        </p:txBody>
      </p:sp>
      <p:sp>
        <p:nvSpPr>
          <p:cNvPr id="14" name="Rectangle 13"/>
          <p:cNvSpPr/>
          <p:nvPr/>
        </p:nvSpPr>
        <p:spPr>
          <a:xfrm>
            <a:off x="758952" y="4026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39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User permissions and project activity tracking</a:t>
            </a:r>
          </a:p>
          <a:p>
            <a:pPr>
              <a:lnSpc>
                <a:spcPts val="2100"/>
              </a:lnSpc>
              <a:spcAft>
                <a:spcPts val="0"/>
              </a:spcAft>
              <a:defRPr sz="1700" b="0">
                <a:solidFill>
                  <a:srgbClr val="1E3348"/>
                </a:solidFill>
                <a:latin typeface="Arial"/>
              </a:defRPr>
            </a:pPr>
            <a:r>
              <a:t>built into everyday work.</a:t>
            </a:r>
          </a:p>
        </p:txBody>
      </p:sp>
      <p:sp>
        <p:nvSpPr>
          <p:cNvPr id="16" name="Rounded Rectangle 15"/>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Current-system training</a:t>
            </a:r>
          </a:p>
        </p:txBody>
      </p:sp>
      <p:sp>
        <p:nvSpPr>
          <p:cNvPr id="19" name="Rectangle 18"/>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 practical guide for operators, account</a:t>
            </a:r>
          </a:p>
          <a:p>
            <a:pPr>
              <a:lnSpc>
                <a:spcPts val="2100"/>
              </a:lnSpc>
              <a:spcAft>
                <a:spcPts val="0"/>
              </a:spcAft>
              <a:defRPr sz="1700" b="0">
                <a:solidFill>
                  <a:srgbClr val="1E3348"/>
                </a:solidFill>
                <a:latin typeface="Arial"/>
              </a:defRPr>
            </a:pPr>
            <a:r>
              <a:t>managers and support teams.</a:t>
            </a:r>
          </a:p>
        </p:txBody>
      </p:sp>
      <p:sp>
        <p:nvSpPr>
          <p:cNvPr id="21" name="Rectangle 20"/>
          <p:cNvSpPr/>
          <p:nvPr/>
        </p:nvSpPr>
        <p:spPr>
          <a:xfrm>
            <a:off x="6391656" y="4026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Source-reviewed edition | 16 October 2026</a:t>
            </a:r>
          </a:p>
        </p:txBody>
      </p:sp>
      <p:sp>
        <p:nvSpPr>
          <p:cNvPr id="23" name="Rounded Rectangle 22"/>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Learn the workflow, understand the numbers, and work within your permissions.</a:t>
            </a:r>
          </a:p>
        </p:txBody>
      </p:sp>
      <p:sp>
        <p:nvSpPr>
          <p:cNvPr id="25" name="TextBox 24"/>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26" name="TextBox 25"/>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01</a:t>
            </a:r>
          </a:p>
        </p:txBody>
      </p:sp>
      <p:pic>
        <p:nvPicPr>
          <p:cNvPr id="27" name="Picture 26" descr="logo-transparent.png"/>
          <p:cNvPicPr>
            <a:picLocks noChangeAspect="1"/>
          </p:cNvPicPr>
          <p:nvPr/>
        </p:nvPicPr>
        <p:blipFill>
          <a:blip r:embed="rId3"/>
          <a:stretch>
            <a:fillRect/>
          </a:stretch>
        </p:blipFill>
        <p:spPr>
          <a:xfrm>
            <a:off x="10469880" y="768096"/>
            <a:ext cx="1051560" cy="88176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02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SYSTEM MAP</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One project, connected records</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Different modules answer different questions about the same project.</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Operational flow</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Procurement: what was ordered and paid to</a:t>
            </a:r>
          </a:p>
          <a:p>
            <a:pPr>
              <a:lnSpc>
                <a:spcPts val="2100"/>
              </a:lnSpc>
              <a:spcAft>
                <a:spcPts val="0"/>
              </a:spcAft>
              <a:defRPr sz="1700" b="0">
                <a:solidFill>
                  <a:srgbClr val="1E3348"/>
                </a:solidFill>
                <a:latin typeface="Arial"/>
              </a:defRPr>
            </a:pPr>
            <a:r>
              <a:t>vendors?</a:t>
            </a:r>
          </a:p>
        </p:txBody>
      </p:sp>
      <p:sp>
        <p:nvSpPr>
          <p:cNvPr id="14" name="Rectangle 13"/>
          <p:cNvSpPr/>
          <p:nvPr/>
        </p:nvSpPr>
        <p:spPr>
          <a:xfrm>
            <a:off x="758952" y="4026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Inventory: what arrived, was used, and remains?</a:t>
            </a:r>
          </a:p>
        </p:txBody>
      </p:sp>
      <p:sp>
        <p:nvSpPr>
          <p:cNvPr id="16" name="Rectangle 15"/>
          <p:cNvSpPr/>
          <p:nvPr/>
        </p:nvSpPr>
        <p:spPr>
          <a:xfrm>
            <a:off x="758952" y="4407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Labor: what was earned, certified, and paid?</a:t>
            </a:r>
          </a:p>
        </p:txBody>
      </p:sp>
      <p:sp>
        <p:nvSpPr>
          <p:cNvPr id="18" name="Rounded Rectangle 17"/>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Financial and review flow</a:t>
            </a:r>
          </a:p>
        </p:txBody>
      </p:sp>
      <p:sp>
        <p:nvSpPr>
          <p:cNvPr id="21" name="Rectangle 20"/>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Cash flow: what was billed to and received from</a:t>
            </a:r>
          </a:p>
          <a:p>
            <a:pPr>
              <a:lnSpc>
                <a:spcPts val="2100"/>
              </a:lnSpc>
              <a:spcAft>
                <a:spcPts val="0"/>
              </a:spcAft>
              <a:defRPr sz="1700" b="0">
                <a:solidFill>
                  <a:srgbClr val="1E3348"/>
                </a:solidFill>
                <a:latin typeface="Arial"/>
              </a:defRPr>
            </a:pPr>
            <a:r>
              <a:t>the client?</a:t>
            </a:r>
          </a:p>
        </p:txBody>
      </p:sp>
      <p:sp>
        <p:nvSpPr>
          <p:cNvPr id="23" name="Rectangle 22"/>
          <p:cNvSpPr/>
          <p:nvPr/>
        </p:nvSpPr>
        <p:spPr>
          <a:xfrm>
            <a:off x="6391656" y="4026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939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Overview: how do costs and project value</a:t>
            </a:r>
          </a:p>
          <a:p>
            <a:pPr>
              <a:lnSpc>
                <a:spcPts val="2100"/>
              </a:lnSpc>
              <a:spcAft>
                <a:spcPts val="0"/>
              </a:spcAft>
              <a:defRPr sz="1700" b="0">
                <a:solidFill>
                  <a:srgbClr val="1E3348"/>
                </a:solidFill>
                <a:latin typeface="Arial"/>
              </a:defRPr>
            </a:pPr>
            <a:r>
              <a:t>compare?</a:t>
            </a:r>
          </a:p>
        </p:txBody>
      </p:sp>
      <p:sp>
        <p:nvSpPr>
          <p:cNvPr id="25" name="Rectangle 24"/>
          <p:cNvSpPr/>
          <p:nvPr/>
        </p:nvSpPr>
        <p:spPr>
          <a:xfrm>
            <a:off x="6391656" y="46741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45872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Audit Log: who performed the recorded activity?</a:t>
            </a:r>
          </a:p>
        </p:txBody>
      </p:sp>
      <p:sp>
        <p:nvSpPr>
          <p:cNvPr id="27" name="Rounded Rectangle 26"/>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Always confirm the project before saving a business transaction.</a:t>
            </a:r>
          </a:p>
        </p:txBody>
      </p:sp>
      <p:sp>
        <p:nvSpPr>
          <p:cNvPr id="29" name="TextBox 28"/>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0" name="TextBox 29"/>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02</a:t>
            </a:r>
          </a:p>
        </p:txBody>
      </p:sp>
      <p:pic>
        <p:nvPicPr>
          <p:cNvPr id="31" name="Picture 30" descr="icon-workflow.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03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GETTING STARTED</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Sign in and orient yourself</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Accounts belong to the database, not to a particular computer.</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First installation</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An empty database seeds the administrator</a:t>
            </a:r>
          </a:p>
          <a:p>
            <a:pPr>
              <a:lnSpc>
                <a:spcPts val="2100"/>
              </a:lnSpc>
              <a:spcAft>
                <a:spcPts val="0"/>
              </a:spcAft>
              <a:defRPr sz="1700" b="0">
                <a:solidFill>
                  <a:srgbClr val="1E3348"/>
                </a:solidFill>
                <a:latin typeface="Arial"/>
              </a:defRPr>
            </a:pPr>
            <a:r>
              <a:t>account and sample data.</a:t>
            </a:r>
          </a:p>
        </p:txBody>
      </p:sp>
      <p:sp>
        <p:nvSpPr>
          <p:cNvPr id="14" name="Rectangle 13"/>
          <p:cNvSpPr/>
          <p:nvPr/>
        </p:nvSpPr>
        <p:spPr>
          <a:xfrm>
            <a:off x="758952" y="4026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39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Obtain the initial credential privately from the</a:t>
            </a:r>
          </a:p>
          <a:p>
            <a:pPr>
              <a:lnSpc>
                <a:spcPts val="2100"/>
              </a:lnSpc>
              <a:spcAft>
                <a:spcPts val="0"/>
              </a:spcAft>
              <a:defRPr sz="1700" b="0">
                <a:solidFill>
                  <a:srgbClr val="1E3348"/>
                </a:solidFill>
                <a:latin typeface="Arial"/>
              </a:defRPr>
            </a:pPr>
            <a:r>
              <a:t>installer.</a:t>
            </a:r>
          </a:p>
        </p:txBody>
      </p:sp>
      <p:sp>
        <p:nvSpPr>
          <p:cNvPr id="16" name="Rectangle 15"/>
          <p:cNvSpPr/>
          <p:nvPr/>
        </p:nvSpPr>
        <p:spPr>
          <a:xfrm>
            <a:off x="758952" y="46741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5872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Change the initial credential before sharing the</a:t>
            </a:r>
          </a:p>
          <a:p>
            <a:pPr>
              <a:lnSpc>
                <a:spcPts val="2100"/>
              </a:lnSpc>
              <a:spcAft>
                <a:spcPts val="0"/>
              </a:spcAft>
              <a:defRPr sz="1700" b="0">
                <a:solidFill>
                  <a:srgbClr val="1E3348"/>
                </a:solidFill>
                <a:latin typeface="Arial"/>
              </a:defRPr>
            </a:pPr>
            <a:r>
              <a:t>installation.</a:t>
            </a:r>
          </a:p>
        </p:txBody>
      </p:sp>
      <p:sp>
        <p:nvSpPr>
          <p:cNvPr id="18" name="Rounded Rectangle 17"/>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Everyday sign-in</a:t>
            </a:r>
          </a:p>
        </p:txBody>
      </p:sp>
      <p:sp>
        <p:nvSpPr>
          <p:cNvPr id="21" name="Rectangle 20"/>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Use your username or work email and</a:t>
            </a:r>
          </a:p>
          <a:p>
            <a:pPr>
              <a:lnSpc>
                <a:spcPts val="2100"/>
              </a:lnSpc>
              <a:spcAft>
                <a:spcPts val="0"/>
              </a:spcAft>
              <a:defRPr sz="1700" b="0">
                <a:solidFill>
                  <a:srgbClr val="1E3348"/>
                </a:solidFill>
                <a:latin typeface="Arial"/>
              </a:defRPr>
            </a:pPr>
            <a:r>
              <a:t>password.</a:t>
            </a:r>
          </a:p>
        </p:txBody>
      </p:sp>
      <p:sp>
        <p:nvSpPr>
          <p:cNvPr id="23" name="Rectangle 22"/>
          <p:cNvSpPr/>
          <p:nvPr/>
        </p:nvSpPr>
        <p:spPr>
          <a:xfrm>
            <a:off x="6391656" y="4026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939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Inactive accounts cannot sign in; contact a user</a:t>
            </a:r>
          </a:p>
          <a:p>
            <a:pPr>
              <a:lnSpc>
                <a:spcPts val="2100"/>
              </a:lnSpc>
              <a:spcAft>
                <a:spcPts val="0"/>
              </a:spcAft>
              <a:defRPr sz="1700" b="0">
                <a:solidFill>
                  <a:srgbClr val="1E3348"/>
                </a:solidFill>
                <a:latin typeface="Arial"/>
              </a:defRPr>
            </a:pPr>
            <a:r>
              <a:t>manager.</a:t>
            </a:r>
          </a:p>
        </p:txBody>
      </p:sp>
      <p:sp>
        <p:nvSpPr>
          <p:cNvPr id="25" name="Rectangle 24"/>
          <p:cNvSpPr/>
          <p:nvPr/>
        </p:nvSpPr>
        <p:spPr>
          <a:xfrm>
            <a:off x="6391656" y="46741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45872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 new computer using the same database uses</a:t>
            </a:r>
          </a:p>
          <a:p>
            <a:pPr>
              <a:lnSpc>
                <a:spcPts val="2100"/>
              </a:lnSpc>
              <a:spcAft>
                <a:spcPts val="0"/>
              </a:spcAft>
              <a:defRPr sz="1700" b="0">
                <a:solidFill>
                  <a:srgbClr val="1E3348"/>
                </a:solidFill>
                <a:latin typeface="Arial"/>
              </a:defRPr>
            </a:pPr>
            <a:r>
              <a:t>existing accounts.</a:t>
            </a:r>
          </a:p>
        </p:txBody>
      </p:sp>
      <p:sp>
        <p:nvSpPr>
          <p:cNvPr id="27" name="Rounded Rectangle 26"/>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No passwords or service credentials are included in this training deck.</a:t>
            </a:r>
          </a:p>
        </p:txBody>
      </p:sp>
      <p:sp>
        <p:nvSpPr>
          <p:cNvPr id="29" name="TextBox 28"/>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0" name="TextBox 29"/>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03</a:t>
            </a:r>
          </a:p>
        </p:txBody>
      </p:sp>
      <p:pic>
        <p:nvPicPr>
          <p:cNvPr id="31" name="Picture 30" descr="icon-login.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04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NAVIGATION</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Your workspace at a glance</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Project context and permission-aware navigation guide every task.</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Left side</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Projects opens the portfolio.</a:t>
            </a:r>
          </a:p>
        </p:txBody>
      </p:sp>
      <p:sp>
        <p:nvSpPr>
          <p:cNvPr id="14" name="Rectangle 13"/>
          <p:cNvSpPr/>
          <p:nvPr/>
        </p:nvSpPr>
        <p:spPr>
          <a:xfrm>
            <a:off x="758952" y="37597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72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WORKSPACE selects an accessible project and</a:t>
            </a:r>
          </a:p>
          <a:p>
            <a:pPr>
              <a:lnSpc>
                <a:spcPts val="2100"/>
              </a:lnSpc>
              <a:spcAft>
                <a:spcPts val="0"/>
              </a:spcAft>
              <a:defRPr sz="1700" b="0">
                <a:solidFill>
                  <a:srgbClr val="1E3348"/>
                </a:solidFill>
                <a:latin typeface="Arial"/>
              </a:defRPr>
            </a:pPr>
            <a:r>
              <a:t>shows its status.</a:t>
            </a:r>
          </a:p>
        </p:txBody>
      </p:sp>
      <p:sp>
        <p:nvSpPr>
          <p:cNvPr id="16" name="Rectangle 15"/>
          <p:cNvSpPr/>
          <p:nvPr/>
        </p:nvSpPr>
        <p:spPr>
          <a:xfrm>
            <a:off x="758952" y="44074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20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Only allowed project modules appear in the</a:t>
            </a:r>
          </a:p>
          <a:p>
            <a:pPr>
              <a:lnSpc>
                <a:spcPts val="2100"/>
              </a:lnSpc>
              <a:spcAft>
                <a:spcPts val="0"/>
              </a:spcAft>
              <a:defRPr sz="1700" b="0">
                <a:solidFill>
                  <a:srgbClr val="1E3348"/>
                </a:solidFill>
                <a:latin typeface="Arial"/>
              </a:defRPr>
            </a:pPr>
            <a:r>
              <a:t>menu.</a:t>
            </a:r>
          </a:p>
        </p:txBody>
      </p:sp>
      <p:sp>
        <p:nvSpPr>
          <p:cNvPr id="18" name="Rectangle 17"/>
          <p:cNvSpPr/>
          <p:nvPr/>
        </p:nvSpPr>
        <p:spPr>
          <a:xfrm>
            <a:off x="758952" y="50551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968239"/>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Users remains independent of project selection.</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Top bar</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Day/Dark mode, local date and time.</a:t>
            </a:r>
          </a:p>
        </p:txBody>
      </p:sp>
      <p:sp>
        <p:nvSpPr>
          <p:cNvPr id="25" name="Rectangle 24"/>
          <p:cNvSpPr/>
          <p:nvPr/>
        </p:nvSpPr>
        <p:spPr>
          <a:xfrm>
            <a:off x="6391656" y="37470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601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My Details opens your account and permission</a:t>
            </a:r>
          </a:p>
          <a:p>
            <a:pPr>
              <a:lnSpc>
                <a:spcPts val="2000"/>
              </a:lnSpc>
              <a:spcAft>
                <a:spcPts val="0"/>
              </a:spcAft>
              <a:defRPr sz="1600" b="0">
                <a:solidFill>
                  <a:srgbClr val="1E3348"/>
                </a:solidFill>
                <a:latin typeface="Arial"/>
              </a:defRPr>
            </a:pPr>
            <a:r>
              <a:t>summary.</a:t>
            </a:r>
          </a:p>
        </p:txBody>
      </p:sp>
      <p:sp>
        <p:nvSpPr>
          <p:cNvPr id="27" name="Rectangle 26"/>
          <p:cNvSpPr/>
          <p:nvPr/>
        </p:nvSpPr>
        <p:spPr>
          <a:xfrm>
            <a:off x="6391656" y="43693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2824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Notes keeps temporary reminders across modules.</a:t>
            </a:r>
          </a:p>
        </p:txBody>
      </p:sp>
      <p:sp>
        <p:nvSpPr>
          <p:cNvPr id="29" name="Rectangle 28"/>
          <p:cNvSpPr/>
          <p:nvPr/>
        </p:nvSpPr>
        <p:spPr>
          <a:xfrm>
            <a:off x="6391656" y="47376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6507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Sign out ends the session and clears session</a:t>
            </a:r>
          </a:p>
          <a:p>
            <a:pPr>
              <a:lnSpc>
                <a:spcPts val="2000"/>
              </a:lnSpc>
              <a:spcAft>
                <a:spcPts val="0"/>
              </a:spcAft>
              <a:defRPr sz="1600" b="0">
                <a:solidFill>
                  <a:srgbClr val="1E3348"/>
                </a:solidFill>
                <a:latin typeface="Arial"/>
              </a:defRPr>
            </a:pPr>
            <a:r>
              <a:t>notes.</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On mobile, swipe the menu row and scroll wide tables inside their panels.</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04</a:t>
            </a:r>
          </a:p>
        </p:txBody>
      </p:sp>
      <p:pic>
        <p:nvPicPr>
          <p:cNvPr id="35" name="Picture 34" descr="icon-overview.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06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LEFT MENU 01</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Projects</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Abstract: the portfolio and entry point for project operations.</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What you see</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Project cards grouped by lifecycle status.</a:t>
            </a:r>
          </a:p>
        </p:txBody>
      </p:sp>
      <p:sp>
        <p:nvSpPr>
          <p:cNvPr id="14" name="Rectangle 13"/>
          <p:cNvSpPr/>
          <p:nvPr/>
        </p:nvSpPr>
        <p:spPr>
          <a:xfrm>
            <a:off x="758952" y="37597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Name, location, contract value and actual cost.</a:t>
            </a:r>
          </a:p>
        </p:txBody>
      </p:sp>
      <p:sp>
        <p:nvSpPr>
          <p:cNvPr id="16" name="Rectangle 15"/>
          <p:cNvSpPr/>
          <p:nvPr/>
        </p:nvSpPr>
        <p:spPr>
          <a:xfrm>
            <a:off x="758952" y="4140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53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Planning, Active, On Hold, Completed and</a:t>
            </a:r>
          </a:p>
          <a:p>
            <a:pPr>
              <a:lnSpc>
                <a:spcPts val="2100"/>
              </a:lnSpc>
              <a:spcAft>
                <a:spcPts val="0"/>
              </a:spcAft>
              <a:defRPr sz="1700" b="0">
                <a:solidFill>
                  <a:srgbClr val="1E3348"/>
                </a:solidFill>
                <a:latin typeface="Arial"/>
              </a:defRPr>
            </a:pPr>
            <a:r>
              <a:t>Cancelled groups.</a:t>
            </a:r>
          </a:p>
        </p:txBody>
      </p:sp>
      <p:sp>
        <p:nvSpPr>
          <p:cNvPr id="18" name="Rounded Rectangle 17"/>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What you do</a:t>
            </a:r>
          </a:p>
        </p:txBody>
      </p:sp>
      <p:sp>
        <p:nvSpPr>
          <p:cNvPr id="21" name="Rectangle 20"/>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Open a project card to work in that project.</a:t>
            </a:r>
          </a:p>
        </p:txBody>
      </p:sp>
      <p:sp>
        <p:nvSpPr>
          <p:cNvPr id="23" name="Rectangle 22"/>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Use WORKSPACE to switch context.</a:t>
            </a:r>
          </a:p>
        </p:txBody>
      </p:sp>
      <p:sp>
        <p:nvSpPr>
          <p:cNvPr id="25" name="Rectangle 24"/>
          <p:cNvSpPr/>
          <p:nvPr/>
        </p:nvSpPr>
        <p:spPr>
          <a:xfrm>
            <a:off x="6391656" y="4140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4053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Choose New Project to enter the setup form.</a:t>
            </a:r>
          </a:p>
        </p:txBody>
      </p:sp>
      <p:sp>
        <p:nvSpPr>
          <p:cNvPr id="27" name="Rectangle 26"/>
          <p:cNvSpPr/>
          <p:nvPr/>
        </p:nvSpPr>
        <p:spPr>
          <a:xfrm>
            <a:off x="6391656" y="4521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434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API authorization still governs project creation.</a:t>
            </a:r>
          </a:p>
        </p:txBody>
      </p:sp>
      <p:sp>
        <p:nvSpPr>
          <p:cNvPr id="29" name="Rounded Rectangle 28"/>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Portfolio figures reflect projects accessible to the signed-in account.</a:t>
            </a:r>
          </a:p>
        </p:txBody>
      </p:sp>
      <p:sp>
        <p:nvSpPr>
          <p:cNvPr id="31" name="TextBox 30"/>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2" name="TextBox 31"/>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06</a:t>
            </a:r>
          </a:p>
        </p:txBody>
      </p:sp>
      <p:pic>
        <p:nvPicPr>
          <p:cNvPr id="33" name="Picture 32" descr="icon-projects.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08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LEFT MENU 02</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Overview</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Abstract: a consolidated snapshot of the selected project's health.</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Read the project</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Contract value, actual cost, open commitments</a:t>
            </a:r>
          </a:p>
          <a:p>
            <a:pPr>
              <a:lnSpc>
                <a:spcPts val="2100"/>
              </a:lnSpc>
              <a:spcAft>
                <a:spcPts val="0"/>
              </a:spcAft>
              <a:defRPr sz="1700" b="0">
                <a:solidFill>
                  <a:srgbClr val="1E3348"/>
                </a:solidFill>
                <a:latin typeface="Arial"/>
              </a:defRPr>
            </a:pPr>
            <a:r>
              <a:t>and margin.</a:t>
            </a:r>
          </a:p>
        </p:txBody>
      </p:sp>
      <p:sp>
        <p:nvSpPr>
          <p:cNvPr id="14" name="Rectangle 13"/>
          <p:cNvSpPr/>
          <p:nvPr/>
        </p:nvSpPr>
        <p:spPr>
          <a:xfrm>
            <a:off x="758952" y="4026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Cost composition and monthly recorded costs.</a:t>
            </a:r>
          </a:p>
        </p:txBody>
      </p:sp>
      <p:sp>
        <p:nvSpPr>
          <p:cNvPr id="16" name="Rectangle 15"/>
          <p:cNvSpPr/>
          <p:nvPr/>
        </p:nvSpPr>
        <p:spPr>
          <a:xfrm>
            <a:off x="758952" y="4407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20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Recent POs and client cash data when those</a:t>
            </a:r>
          </a:p>
          <a:p>
            <a:pPr>
              <a:lnSpc>
                <a:spcPts val="2100"/>
              </a:lnSpc>
              <a:spcAft>
                <a:spcPts val="0"/>
              </a:spcAft>
              <a:defRPr sz="1700" b="0">
                <a:solidFill>
                  <a:srgbClr val="1E3348"/>
                </a:solidFill>
                <a:latin typeface="Arial"/>
              </a:defRPr>
            </a:pPr>
            <a:r>
              <a:t>modules are allowed.</a:t>
            </a:r>
          </a:p>
        </p:txBody>
      </p:sp>
      <p:sp>
        <p:nvSpPr>
          <p:cNvPr id="18" name="Rounded Rectangle 17"/>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Manage context</a:t>
            </a:r>
          </a:p>
        </p:txBody>
      </p:sp>
      <p:sp>
        <p:nvSpPr>
          <p:cNvPr id="21" name="Rectangle 20"/>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2918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Review project status and status history.</a:t>
            </a:r>
          </a:p>
        </p:txBody>
      </p:sp>
      <p:sp>
        <p:nvSpPr>
          <p:cNvPr id="23" name="Rectangle 22"/>
          <p:cNvSpPr/>
          <p:nvPr/>
        </p:nvSpPr>
        <p:spPr>
          <a:xfrm>
            <a:off x="6391656" y="37470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6601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Upload or download plan documents and inspect</a:t>
            </a:r>
          </a:p>
          <a:p>
            <a:pPr>
              <a:lnSpc>
                <a:spcPts val="2000"/>
              </a:lnSpc>
              <a:spcAft>
                <a:spcPts val="0"/>
              </a:spcAft>
              <a:defRPr sz="1600" b="0">
                <a:solidFill>
                  <a:srgbClr val="1E3348"/>
                </a:solidFill>
                <a:latin typeface="Arial"/>
              </a:defRPr>
            </a:pPr>
            <a:r>
              <a:t>value history.</a:t>
            </a:r>
          </a:p>
        </p:txBody>
      </p:sp>
      <p:sp>
        <p:nvSpPr>
          <p:cNvPr id="25" name="Rectangle 24"/>
          <p:cNvSpPr/>
          <p:nvPr/>
        </p:nvSpPr>
        <p:spPr>
          <a:xfrm>
            <a:off x="6391656" y="43693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42824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Permissioned actions: Update Status, Quick Entry</a:t>
            </a:r>
          </a:p>
          <a:p>
            <a:pPr>
              <a:lnSpc>
                <a:spcPts val="2000"/>
              </a:lnSpc>
              <a:spcAft>
                <a:spcPts val="0"/>
              </a:spcAft>
              <a:defRPr sz="1600" b="0">
                <a:solidFill>
                  <a:srgbClr val="1E3348"/>
                </a:solidFill>
                <a:latin typeface="Arial"/>
              </a:defRPr>
            </a:pPr>
            <a:r>
              <a:t>and Export.</a:t>
            </a:r>
          </a:p>
        </p:txBody>
      </p:sp>
      <p:sp>
        <p:nvSpPr>
          <p:cNvPr id="27" name="Rectangle 26"/>
          <p:cNvSpPr/>
          <p:nvPr/>
        </p:nvSpPr>
        <p:spPr>
          <a:xfrm>
            <a:off x="6391656" y="49916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9047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Restricted linked sections remain empty in reports.</a:t>
            </a:r>
          </a:p>
        </p:txBody>
      </p:sp>
      <p:sp>
        <p:nvSpPr>
          <p:cNvPr id="29" name="Rounded Rectangle 28"/>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Overview cost is not the same as cash paid or remaining stock value.</a:t>
            </a:r>
          </a:p>
        </p:txBody>
      </p:sp>
      <p:sp>
        <p:nvSpPr>
          <p:cNvPr id="31" name="TextBox 30"/>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2" name="TextBox 31"/>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08</a:t>
            </a:r>
          </a:p>
        </p:txBody>
      </p:sp>
      <p:pic>
        <p:nvPicPr>
          <p:cNvPr id="33" name="Picture 32" descr="icon-overview.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10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LEFT MENU 03</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Procurement</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Abstract: purchase orders, vendor installments and outstanding balances.</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Register and totals</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PO count, ordered value, paid value and</a:t>
            </a:r>
          </a:p>
          <a:p>
            <a:pPr>
              <a:lnSpc>
                <a:spcPts val="2000"/>
              </a:lnSpc>
              <a:spcAft>
                <a:spcPts val="0"/>
              </a:spcAft>
              <a:defRPr sz="1600" b="0">
                <a:solidFill>
                  <a:srgbClr val="1E3348"/>
                </a:solidFill>
                <a:latin typeface="Arial"/>
              </a:defRPr>
            </a:pPr>
            <a:r>
              <a:t>outstanding balance.</a:t>
            </a:r>
          </a:p>
        </p:txBody>
      </p:sp>
      <p:sp>
        <p:nvSpPr>
          <p:cNvPr id="14" name="Rectangle 13"/>
          <p:cNvSpPr/>
          <p:nvPr/>
        </p:nvSpPr>
        <p:spPr>
          <a:xfrm>
            <a:off x="758952" y="40010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141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Newest order date first; search vendor, item or PO.</a:t>
            </a:r>
          </a:p>
        </p:txBody>
      </p:sp>
      <p:sp>
        <p:nvSpPr>
          <p:cNvPr id="16" name="Rectangle 15"/>
          <p:cNvSpPr/>
          <p:nvPr/>
        </p:nvSpPr>
        <p:spPr>
          <a:xfrm>
            <a:off x="758952" y="43693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2824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Payment filters: All, Pending, Partially paid and</a:t>
            </a:r>
          </a:p>
          <a:p>
            <a:pPr>
              <a:lnSpc>
                <a:spcPts val="2000"/>
              </a:lnSpc>
              <a:spcAft>
                <a:spcPts val="0"/>
              </a:spcAft>
              <a:defRPr sz="1600" b="0">
                <a:solidFill>
                  <a:srgbClr val="1E3348"/>
                </a:solidFill>
                <a:latin typeface="Arial"/>
              </a:defRPr>
            </a:pPr>
            <a:r>
              <a:t>Paid.</a:t>
            </a:r>
          </a:p>
        </p:txBody>
      </p:sp>
      <p:sp>
        <p:nvSpPr>
          <p:cNvPr id="18" name="Rectangle 17"/>
          <p:cNvSpPr/>
          <p:nvPr/>
        </p:nvSpPr>
        <p:spPr>
          <a:xfrm>
            <a:off x="758952" y="49916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9047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Page sizes: 10, 20, 50, 100 and 200.</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Actions</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One grant enables both Create and Edit</a:t>
            </a:r>
          </a:p>
          <a:p>
            <a:pPr>
              <a:lnSpc>
                <a:spcPts val="2100"/>
              </a:lnSpc>
              <a:spcAft>
                <a:spcPts val="0"/>
              </a:spcAft>
              <a:defRPr sz="1700" b="0">
                <a:solidFill>
                  <a:srgbClr val="1E3348"/>
                </a:solidFill>
                <a:latin typeface="Arial"/>
              </a:defRPr>
            </a:pPr>
            <a:r>
              <a:t>Purchase Order.</a:t>
            </a:r>
          </a:p>
        </p:txBody>
      </p:sp>
      <p:sp>
        <p:nvSpPr>
          <p:cNvPr id="25" name="Rectangle 24"/>
          <p:cNvSpPr/>
          <p:nvPr/>
        </p:nvSpPr>
        <p:spPr>
          <a:xfrm>
            <a:off x="6391656" y="4026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Add Payment is an independent grant.</a:t>
            </a:r>
          </a:p>
        </p:txBody>
      </p:sp>
      <p:sp>
        <p:nvSpPr>
          <p:cNvPr id="27" name="Rectangle 26"/>
          <p:cNvSpPr/>
          <p:nvPr/>
        </p:nvSpPr>
        <p:spPr>
          <a:xfrm>
            <a:off x="6391656" y="4407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320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Review payment history and optional PO</a:t>
            </a:r>
          </a:p>
          <a:p>
            <a:pPr>
              <a:lnSpc>
                <a:spcPts val="2100"/>
              </a:lnSpc>
              <a:spcAft>
                <a:spcPts val="0"/>
              </a:spcAft>
              <a:defRPr sz="1700" b="0">
                <a:solidFill>
                  <a:srgbClr val="1E3348"/>
                </a:solidFill>
                <a:latin typeface="Arial"/>
              </a:defRPr>
            </a:pPr>
            <a:r>
              <a:t>images.</a:t>
            </a:r>
          </a:p>
        </p:txBody>
      </p:sp>
      <p:sp>
        <p:nvSpPr>
          <p:cNvPr id="29" name="Rectangle 28"/>
          <p:cNvSpPr/>
          <p:nvPr/>
        </p:nvSpPr>
        <p:spPr>
          <a:xfrm>
            <a:off x="6391656" y="50551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9682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Fully paid orders keep edit/payment restrictions.</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An order does not increase received inventory until a receipt is recorded.</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10</a:t>
            </a:r>
          </a:p>
        </p:txBody>
      </p:sp>
      <p:pic>
        <p:nvPicPr>
          <p:cNvPr id="35" name="Picture 34" descr="icon-procurement.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12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LEFT MENU 04</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Inventory</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Abstract: material receipts, site consumption and available stock.</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Read the material register</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Ordered, open, received, consumed and</a:t>
            </a:r>
          </a:p>
          <a:p>
            <a:pPr>
              <a:lnSpc>
                <a:spcPts val="2100"/>
              </a:lnSpc>
              <a:spcAft>
                <a:spcPts val="0"/>
              </a:spcAft>
              <a:defRPr sz="1700" b="0">
                <a:solidFill>
                  <a:srgbClr val="1E3348"/>
                </a:solidFill>
                <a:latin typeface="Arial"/>
              </a:defRPr>
            </a:pPr>
            <a:r>
              <a:t>available quantities.</a:t>
            </a:r>
          </a:p>
        </p:txBody>
      </p:sp>
      <p:sp>
        <p:nvSpPr>
          <p:cNvPr id="14" name="Rectangle 13"/>
          <p:cNvSpPr/>
          <p:nvPr/>
        </p:nvSpPr>
        <p:spPr>
          <a:xfrm>
            <a:off x="758952" y="4026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Material, vendor, unit and valuation context.</a:t>
            </a:r>
          </a:p>
        </p:txBody>
      </p:sp>
      <p:sp>
        <p:nvSpPr>
          <p:cNvPr id="16" name="Rectangle 15"/>
          <p:cNvSpPr/>
          <p:nvPr/>
        </p:nvSpPr>
        <p:spPr>
          <a:xfrm>
            <a:off x="758952" y="4407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Search/material filters and paginated rows.</a:t>
            </a:r>
          </a:p>
        </p:txBody>
      </p:sp>
      <p:sp>
        <p:nvSpPr>
          <p:cNvPr id="18" name="Rectangle 17"/>
          <p:cNvSpPr/>
          <p:nvPr/>
        </p:nvSpPr>
        <p:spPr>
          <a:xfrm>
            <a:off x="758952" y="4788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701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Stock ledger shows dated movements and</a:t>
            </a:r>
          </a:p>
          <a:p>
            <a:pPr>
              <a:lnSpc>
                <a:spcPts val="2100"/>
              </a:lnSpc>
              <a:spcAft>
                <a:spcPts val="0"/>
              </a:spcAft>
              <a:defRPr sz="1700" b="0">
                <a:solidFill>
                  <a:srgbClr val="1E3348"/>
                </a:solidFill>
                <a:latin typeface="Arial"/>
              </a:defRPr>
            </a:pPr>
            <a:r>
              <a:t>recorder details.</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Record physical events</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Receive Stock records actual inward quantity.</a:t>
            </a:r>
          </a:p>
        </p:txBody>
      </p:sp>
      <p:sp>
        <p:nvSpPr>
          <p:cNvPr id="25" name="Rectangle 24"/>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Use Stock records material consumed on site.</a:t>
            </a:r>
          </a:p>
        </p:txBody>
      </p:sp>
      <p:sp>
        <p:nvSpPr>
          <p:cNvPr id="27" name="Rectangle 26"/>
          <p:cNvSpPr/>
          <p:nvPr/>
        </p:nvSpPr>
        <p:spPr>
          <a:xfrm>
            <a:off x="6391656" y="4140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053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Receive and Use have separate action</a:t>
            </a:r>
          </a:p>
          <a:p>
            <a:pPr>
              <a:lnSpc>
                <a:spcPts val="2100"/>
              </a:lnSpc>
              <a:spcAft>
                <a:spcPts val="0"/>
              </a:spcAft>
              <a:defRPr sz="1700" b="0">
                <a:solidFill>
                  <a:srgbClr val="1E3348"/>
                </a:solidFill>
                <a:latin typeface="Arial"/>
              </a:defRPr>
            </a:pPr>
            <a:r>
              <a:t>permissions.</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Check units, references and quantity before</a:t>
            </a:r>
          </a:p>
          <a:p>
            <a:pPr>
              <a:lnSpc>
                <a:spcPts val="2100"/>
              </a:lnSpc>
              <a:spcAft>
                <a:spcPts val="0"/>
              </a:spcAft>
              <a:defRPr sz="1700" b="0">
                <a:solidFill>
                  <a:srgbClr val="1E3348"/>
                </a:solidFill>
                <a:latin typeface="Arial"/>
              </a:defRPr>
            </a:pPr>
            <a:r>
              <a:t>submitting.</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Remaining stock valuation should not equal all purchase-order costs.</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12</a:t>
            </a:r>
          </a:p>
        </p:txBody>
      </p:sp>
      <p:pic>
        <p:nvPicPr>
          <p:cNvPr id="35" name="Picture 34" descr="icon-inventory.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14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LEFT MENU 05</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Cash flow</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Abstract: client billing applications, receipts and allocations.</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What the numbers mean</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Contract value: approved project/client value.</a:t>
            </a:r>
          </a:p>
        </p:txBody>
      </p:sp>
      <p:sp>
        <p:nvSpPr>
          <p:cNvPr id="14" name="Rectangle 13"/>
          <p:cNvSpPr/>
          <p:nvPr/>
        </p:nvSpPr>
        <p:spPr>
          <a:xfrm>
            <a:off x="758952" y="37597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Billed to client: recorded billing applications.</a:t>
            </a:r>
          </a:p>
        </p:txBody>
      </p:sp>
      <p:sp>
        <p:nvSpPr>
          <p:cNvPr id="16" name="Rectangle 15"/>
          <p:cNvSpPr/>
          <p:nvPr/>
        </p:nvSpPr>
        <p:spPr>
          <a:xfrm>
            <a:off x="758952" y="4140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53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Cash received: all recorded client receipts.</a:t>
            </a:r>
          </a:p>
        </p:txBody>
      </p:sp>
      <p:sp>
        <p:nvSpPr>
          <p:cNvPr id="18" name="Rectangle 17"/>
          <p:cNvSpPr/>
          <p:nvPr/>
        </p:nvSpPr>
        <p:spPr>
          <a:xfrm>
            <a:off x="758952" y="4521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434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Billed outstanding: unpaid allocated application</a:t>
            </a:r>
          </a:p>
          <a:p>
            <a:pPr>
              <a:lnSpc>
                <a:spcPts val="2100"/>
              </a:lnSpc>
              <a:spcAft>
                <a:spcPts val="0"/>
              </a:spcAft>
              <a:defRPr sz="1700" b="0">
                <a:solidFill>
                  <a:srgbClr val="1E3348"/>
                </a:solidFill>
                <a:latin typeface="Arial"/>
              </a:defRPr>
            </a:pPr>
            <a:r>
              <a:t>balance.</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Daily actions</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New Application records a client billing amount.</a:t>
            </a:r>
          </a:p>
        </p:txBody>
      </p:sp>
      <p:sp>
        <p:nvSpPr>
          <p:cNvPr id="25" name="Rectangle 24"/>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72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Record Receipt captures date, method and</a:t>
            </a:r>
          </a:p>
          <a:p>
            <a:pPr>
              <a:lnSpc>
                <a:spcPts val="2100"/>
              </a:lnSpc>
              <a:spcAft>
                <a:spcPts val="0"/>
              </a:spcAft>
              <a:defRPr sz="1700" b="0">
                <a:solidFill>
                  <a:srgbClr val="1E3348"/>
                </a:solidFill>
                <a:latin typeface="Arial"/>
              </a:defRPr>
            </a:pPr>
            <a:r>
              <a:t>reference.</a:t>
            </a:r>
          </a:p>
        </p:txBody>
      </p:sp>
      <p:sp>
        <p:nvSpPr>
          <p:cNvPr id="27" name="Rectangle 26"/>
          <p:cNvSpPr/>
          <p:nvPr/>
        </p:nvSpPr>
        <p:spPr>
          <a:xfrm>
            <a:off x="6391656" y="44074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Allocate receipts to the intended application.</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Search/page billing and receipt registers</a:t>
            </a:r>
          </a:p>
          <a:p>
            <a:pPr>
              <a:lnSpc>
                <a:spcPts val="2100"/>
              </a:lnSpc>
              <a:spcAft>
                <a:spcPts val="0"/>
              </a:spcAft>
              <a:defRPr sz="1700" b="0">
                <a:solidFill>
                  <a:srgbClr val="1E3348"/>
                </a:solidFill>
                <a:latin typeface="Arial"/>
              </a:defRPr>
            </a:pPr>
            <a:r>
              <a:t>separately.</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Unallocated cash increases receipts but does not settle a specific bill.</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14</a:t>
            </a:r>
          </a:p>
        </p:txBody>
      </p:sp>
      <p:pic>
        <p:nvPicPr>
          <p:cNvPr id="35" name="Picture 34" descr="icon-cashflow.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16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LEFT MENU 06</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Labor and Wages</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Abstract: direct-worker records and subcontract-labor workflows.</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Direct workers</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Add/edit workers and their trades/contact details.</a:t>
            </a:r>
          </a:p>
        </p:txBody>
      </p:sp>
      <p:sp>
        <p:nvSpPr>
          <p:cNvPr id="14" name="Rectangle 13"/>
          <p:cNvSpPr/>
          <p:nvPr/>
        </p:nvSpPr>
        <p:spPr>
          <a:xfrm>
            <a:off x="758952" y="37597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Log work with quantity, unit and rate.</a:t>
            </a:r>
          </a:p>
        </p:txBody>
      </p:sp>
      <p:sp>
        <p:nvSpPr>
          <p:cNvPr id="16" name="Rectangle 15"/>
          <p:cNvSpPr/>
          <p:nvPr/>
        </p:nvSpPr>
        <p:spPr>
          <a:xfrm>
            <a:off x="758952" y="4140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53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Record wage payments; compare earned, paid</a:t>
            </a:r>
          </a:p>
          <a:p>
            <a:pPr>
              <a:lnSpc>
                <a:spcPts val="2100"/>
              </a:lnSpc>
              <a:spcAft>
                <a:spcPts val="0"/>
              </a:spcAft>
              <a:defRPr sz="1700" b="0">
                <a:solidFill>
                  <a:srgbClr val="1E3348"/>
                </a:solidFill>
                <a:latin typeface="Arial"/>
              </a:defRPr>
            </a:pPr>
            <a:r>
              <a:t>and payable.</a:t>
            </a:r>
          </a:p>
        </p:txBody>
      </p:sp>
      <p:sp>
        <p:nvSpPr>
          <p:cNvPr id="18" name="Rectangle 17"/>
          <p:cNvSpPr/>
          <p:nvPr/>
        </p:nvSpPr>
        <p:spPr>
          <a:xfrm>
            <a:off x="758952" y="4788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701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Activate/deactivate workers when appropriate.</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Subcontract labor</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Create unit-rate or lump-sum labor contracts.</a:t>
            </a:r>
          </a:p>
        </p:txBody>
      </p:sp>
      <p:sp>
        <p:nvSpPr>
          <p:cNvPr id="25" name="Rectangle 24"/>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Link plan baselines and supporting contract files.</a:t>
            </a:r>
          </a:p>
        </p:txBody>
      </p:sp>
      <p:sp>
        <p:nvSpPr>
          <p:cNvPr id="27" name="Rectangle 26"/>
          <p:cNvSpPr/>
          <p:nvPr/>
        </p:nvSpPr>
        <p:spPr>
          <a:xfrm>
            <a:off x="6391656" y="4140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053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Review changes and certify/reject progress</a:t>
            </a:r>
          </a:p>
          <a:p>
            <a:pPr>
              <a:lnSpc>
                <a:spcPts val="2100"/>
              </a:lnSpc>
              <a:spcAft>
                <a:spcPts val="0"/>
              </a:spcAft>
              <a:defRPr sz="1700" b="0">
                <a:solidFill>
                  <a:srgbClr val="1E3348"/>
                </a:solidFill>
                <a:latin typeface="Arial"/>
              </a:defRPr>
            </a:pPr>
            <a:r>
              <a:t>claims.</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Pay eligible claims and inspect file/history</a:t>
            </a:r>
          </a:p>
          <a:p>
            <a:pPr>
              <a:lnSpc>
                <a:spcPts val="2100"/>
              </a:lnSpc>
              <a:spcAft>
                <a:spcPts val="0"/>
              </a:spcAft>
              <a:defRPr sz="1700" b="0">
                <a:solidFill>
                  <a:srgbClr val="1E3348"/>
                </a:solidFill>
                <a:latin typeface="Arial"/>
              </a:defRPr>
            </a:pPr>
            <a:r>
              <a:t>records.</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Earned/certified labor contributes to cost; payment is its settlement.</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16</a:t>
            </a:r>
          </a:p>
        </p:txBody>
      </p:sp>
      <p:pic>
        <p:nvPicPr>
          <p:cNvPr id="35" name="Picture 34" descr="icon-labor.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18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LEFT MENU 07</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Users</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Abstract: standalone account directory and permission administration.</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Directory</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All non-deleted accounts, independent of selected</a:t>
            </a:r>
          </a:p>
          <a:p>
            <a:pPr>
              <a:lnSpc>
                <a:spcPts val="2000"/>
              </a:lnSpc>
              <a:spcAft>
                <a:spcPts val="0"/>
              </a:spcAft>
              <a:defRPr sz="1600" b="0">
                <a:solidFill>
                  <a:srgbClr val="1E3348"/>
                </a:solidFill>
                <a:latin typeface="Arial"/>
              </a:defRPr>
            </a:pPr>
            <a:r>
              <a:t>project.</a:t>
            </a:r>
          </a:p>
        </p:txBody>
      </p:sp>
      <p:sp>
        <p:nvSpPr>
          <p:cNvPr id="14" name="Rectangle 13"/>
          <p:cNvSpPr/>
          <p:nvPr/>
        </p:nvSpPr>
        <p:spPr>
          <a:xfrm>
            <a:off x="758952" y="40010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141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Search contact/account details and review account</a:t>
            </a:r>
          </a:p>
          <a:p>
            <a:pPr>
              <a:lnSpc>
                <a:spcPts val="2000"/>
              </a:lnSpc>
              <a:spcAft>
                <a:spcPts val="0"/>
              </a:spcAft>
              <a:defRPr sz="1600" b="0">
                <a:solidFill>
                  <a:srgbClr val="1E3348"/>
                </a:solidFill>
                <a:latin typeface="Arial"/>
              </a:defRPr>
            </a:pPr>
            <a:r>
              <a:t>status.</a:t>
            </a:r>
          </a:p>
        </p:txBody>
      </p:sp>
      <p:sp>
        <p:nvSpPr>
          <p:cNvPr id="16" name="Rectangle 15"/>
          <p:cNvSpPr/>
          <p:nvPr/>
        </p:nvSpPr>
        <p:spPr>
          <a:xfrm>
            <a:off x="758952" y="46233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5364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View opens a read-only details and permissions</a:t>
            </a:r>
          </a:p>
          <a:p>
            <a:pPr>
              <a:lnSpc>
                <a:spcPts val="2000"/>
              </a:lnSpc>
              <a:spcAft>
                <a:spcPts val="0"/>
              </a:spcAft>
              <a:defRPr sz="1600" b="0">
                <a:solidFill>
                  <a:srgbClr val="1E3348"/>
                </a:solidFill>
                <a:latin typeface="Arial"/>
              </a:defRPr>
            </a:pPr>
            <a:r>
              <a:t>popup.</a:t>
            </a:r>
          </a:p>
        </p:txBody>
      </p:sp>
      <p:sp>
        <p:nvSpPr>
          <p:cNvPr id="18" name="Rectangle 17"/>
          <p:cNvSpPr/>
          <p:nvPr/>
        </p:nvSpPr>
        <p:spPr>
          <a:xfrm>
            <a:off x="758952" y="52456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1587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Export follows a separate Users export grant.</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Account lifecycle</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Add/Edit through a two-step wizard.</a:t>
            </a:r>
          </a:p>
        </p:txBody>
      </p:sp>
      <p:sp>
        <p:nvSpPr>
          <p:cNvPr id="25" name="Rectangle 24"/>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72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Separate Reset, Activate/Deactivate, Delete and</a:t>
            </a:r>
          </a:p>
          <a:p>
            <a:pPr>
              <a:lnSpc>
                <a:spcPts val="2100"/>
              </a:lnSpc>
              <a:spcAft>
                <a:spcPts val="0"/>
              </a:spcAft>
              <a:defRPr sz="1700" b="0">
                <a:solidFill>
                  <a:srgbClr val="1E3348"/>
                </a:solidFill>
                <a:latin typeface="Arial"/>
              </a:defRPr>
            </a:pPr>
            <a:r>
              <a:t>History grants.</a:t>
            </a:r>
          </a:p>
        </p:txBody>
      </p:sp>
      <p:sp>
        <p:nvSpPr>
          <p:cNvPr id="27" name="Rectangle 26"/>
          <p:cNvSpPr/>
          <p:nvPr/>
        </p:nvSpPr>
        <p:spPr>
          <a:xfrm>
            <a:off x="6391656" y="44074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Username is immutable on Edit.</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Delete disables/hides the account but keeps its</a:t>
            </a:r>
          </a:p>
          <a:p>
            <a:pPr>
              <a:lnSpc>
                <a:spcPts val="2100"/>
              </a:lnSpc>
              <a:spcAft>
                <a:spcPts val="0"/>
              </a:spcAft>
              <a:defRPr sz="1700" b="0">
                <a:solidFill>
                  <a:srgbClr val="1E3348"/>
                </a:solidFill>
                <a:latin typeface="Arial"/>
              </a:defRPr>
            </a:pPr>
            <a:r>
              <a:t>history.</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A Users-only account needs neither project assignment nor Global access.</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18</a:t>
            </a:r>
          </a:p>
        </p:txBody>
      </p:sp>
      <p:pic>
        <p:nvPicPr>
          <p:cNvPr id="35" name="Picture 34" descr="icon-users.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20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LEFT MENU 08</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Audit Log</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Abstract: investigate recorded activities for one accessible project.</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Table and filters</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Username | Date/time | Activity | Record | Details |</a:t>
            </a:r>
          </a:p>
          <a:p>
            <a:pPr>
              <a:lnSpc>
                <a:spcPts val="2000"/>
              </a:lnSpc>
              <a:spcAft>
                <a:spcPts val="0"/>
              </a:spcAft>
              <a:defRPr sz="1600" b="0">
                <a:solidFill>
                  <a:srgbClr val="1E3348"/>
                </a:solidFill>
                <a:latin typeface="Arial"/>
              </a:defRPr>
            </a:pPr>
            <a:r>
              <a:t>Reference.</a:t>
            </a:r>
          </a:p>
        </p:txBody>
      </p:sp>
      <p:sp>
        <p:nvSpPr>
          <p:cNvPr id="14" name="Rectangle 13"/>
          <p:cNvSpPr/>
          <p:nvPr/>
        </p:nvSpPr>
        <p:spPr>
          <a:xfrm>
            <a:off x="758952" y="40010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141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Newest first, with search and applied date/time</a:t>
            </a:r>
          </a:p>
          <a:p>
            <a:pPr>
              <a:lnSpc>
                <a:spcPts val="2000"/>
              </a:lnSpc>
              <a:spcAft>
                <a:spcPts val="0"/>
              </a:spcAft>
              <a:defRPr sz="1600" b="0">
                <a:solidFill>
                  <a:srgbClr val="1E3348"/>
                </a:solidFill>
                <a:latin typeface="Arial"/>
              </a:defRPr>
            </a:pPr>
            <a:r>
              <a:t>range.</a:t>
            </a:r>
          </a:p>
        </p:txBody>
      </p:sp>
      <p:sp>
        <p:nvSpPr>
          <p:cNvPr id="16" name="Rectangle 15"/>
          <p:cNvSpPr/>
          <p:nvPr/>
        </p:nvSpPr>
        <p:spPr>
          <a:xfrm>
            <a:off x="758952" y="46233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5364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Default 10 rows; options 20, 50 and 100.</a:t>
            </a:r>
          </a:p>
        </p:txBody>
      </p:sp>
      <p:sp>
        <p:nvSpPr>
          <p:cNvPr id="18" name="Rectangle 17"/>
          <p:cNvSpPr/>
          <p:nvPr/>
        </p:nvSpPr>
        <p:spPr>
          <a:xfrm>
            <a:off x="758952" y="49916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9047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Expand recorded changes for readable</a:t>
            </a:r>
          </a:p>
          <a:p>
            <a:pPr>
              <a:lnSpc>
                <a:spcPts val="2000"/>
              </a:lnSpc>
              <a:spcAft>
                <a:spcPts val="0"/>
              </a:spcAft>
              <a:defRPr sz="1600" b="0">
                <a:solidFill>
                  <a:srgbClr val="1E3348"/>
                </a:solidFill>
                <a:latin typeface="Arial"/>
              </a:defRPr>
            </a:pPr>
            <a:r>
              <a:t>explanations.</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Tracked events</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584708"/>
          </a:xfrm>
          <a:prstGeom prst="rect">
            <a:avLst/>
          </a:prstGeom>
          <a:noFill/>
        </p:spPr>
        <p:txBody>
          <a:bodyPr wrap="square" lIns="9144" rIns="9144" tIns="18288" bIns="18288" anchor="t">
            <a:spAutoFit/>
          </a:bodyPr>
          <a:lstStyle/>
          <a:p>
            <a:pPr>
              <a:lnSpc>
                <a:spcPts val="2050"/>
              </a:lnSpc>
              <a:spcAft>
                <a:spcPts val="0"/>
              </a:spcAft>
              <a:defRPr sz="1650" b="0">
                <a:solidFill>
                  <a:srgbClr val="1E3348"/>
                </a:solidFill>
                <a:latin typeface="Arial"/>
              </a:defRPr>
            </a:pPr>
            <a:r>
              <a:t>Visited Inventory and other tracked project</a:t>
            </a:r>
          </a:p>
          <a:p>
            <a:pPr>
              <a:lnSpc>
                <a:spcPts val="2050"/>
              </a:lnSpc>
              <a:spcAft>
                <a:spcPts val="0"/>
              </a:spcAft>
              <a:defRPr sz="1650" b="0">
                <a:solidFill>
                  <a:srgbClr val="1E3348"/>
                </a:solidFill>
                <a:latin typeface="Arial"/>
              </a:defRPr>
            </a:pPr>
            <a:r>
              <a:t>modules.</a:t>
            </a:r>
          </a:p>
        </p:txBody>
      </p:sp>
      <p:sp>
        <p:nvSpPr>
          <p:cNvPr id="25" name="Rectangle 24"/>
          <p:cNvSpPr/>
          <p:nvPr/>
        </p:nvSpPr>
        <p:spPr>
          <a:xfrm>
            <a:off x="6391656" y="4013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926840"/>
            <a:ext cx="4773168" cy="324358"/>
          </a:xfrm>
          <a:prstGeom prst="rect">
            <a:avLst/>
          </a:prstGeom>
          <a:noFill/>
        </p:spPr>
        <p:txBody>
          <a:bodyPr wrap="square" lIns="9144" rIns="9144" tIns="18288" bIns="18288" anchor="t">
            <a:spAutoFit/>
          </a:bodyPr>
          <a:lstStyle/>
          <a:p>
            <a:pPr>
              <a:lnSpc>
                <a:spcPts val="2050"/>
              </a:lnSpc>
              <a:spcAft>
                <a:spcPts val="0"/>
              </a:spcAft>
              <a:defRPr sz="1650" b="0">
                <a:solidFill>
                  <a:srgbClr val="1E3348"/>
                </a:solidFill>
                <a:latin typeface="Arial"/>
              </a:defRPr>
            </a:pPr>
            <a:r>
              <a:t>Exported report from Inventory (export requested).</a:t>
            </a:r>
          </a:p>
        </p:txBody>
      </p:sp>
      <p:sp>
        <p:nvSpPr>
          <p:cNvPr id="27" name="Rectangle 26"/>
          <p:cNvSpPr/>
          <p:nvPr/>
        </p:nvSpPr>
        <p:spPr>
          <a:xfrm>
            <a:off x="6391656" y="438835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301490"/>
            <a:ext cx="4773168" cy="584708"/>
          </a:xfrm>
          <a:prstGeom prst="rect">
            <a:avLst/>
          </a:prstGeom>
          <a:noFill/>
        </p:spPr>
        <p:txBody>
          <a:bodyPr wrap="square" lIns="9144" rIns="9144" tIns="18288" bIns="18288" anchor="t">
            <a:spAutoFit/>
          </a:bodyPr>
          <a:lstStyle/>
          <a:p>
            <a:pPr>
              <a:lnSpc>
                <a:spcPts val="2050"/>
              </a:lnSpc>
              <a:spcAft>
                <a:spcPts val="0"/>
              </a:spcAft>
              <a:defRPr sz="1650" b="0">
                <a:solidFill>
                  <a:srgbClr val="1E3348"/>
                </a:solidFill>
                <a:latin typeface="Arial"/>
              </a:defRPr>
            </a:pPr>
            <a:r>
              <a:t>Saved business changes where audit events are</a:t>
            </a:r>
          </a:p>
          <a:p>
            <a:pPr>
              <a:lnSpc>
                <a:spcPts val="2050"/>
              </a:lnSpc>
              <a:spcAft>
                <a:spcPts val="0"/>
              </a:spcAft>
              <a:defRPr sz="1650" b="0">
                <a:solidFill>
                  <a:srgbClr val="1E3348"/>
                </a:solidFill>
                <a:latin typeface="Arial"/>
              </a:defRPr>
            </a:pPr>
            <a:r>
              <a:t>emitted.</a:t>
            </a:r>
          </a:p>
        </p:txBody>
      </p:sp>
      <p:sp>
        <p:nvSpPr>
          <p:cNvPr id="29" name="Rectangle 28"/>
          <p:cNvSpPr/>
          <p:nvPr/>
        </p:nvSpPr>
        <p:spPr>
          <a:xfrm>
            <a:off x="6391656" y="502335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936490"/>
            <a:ext cx="4773168" cy="324358"/>
          </a:xfrm>
          <a:prstGeom prst="rect">
            <a:avLst/>
          </a:prstGeom>
          <a:noFill/>
        </p:spPr>
        <p:txBody>
          <a:bodyPr wrap="square" lIns="9144" rIns="9144" tIns="18288" bIns="18288" anchor="t">
            <a:spAutoFit/>
          </a:bodyPr>
          <a:lstStyle/>
          <a:p>
            <a:pPr>
              <a:lnSpc>
                <a:spcPts val="2050"/>
              </a:lnSpc>
              <a:spcAft>
                <a:spcPts val="0"/>
              </a:spcAft>
              <a:defRPr sz="1650" b="0">
                <a:solidFill>
                  <a:srgbClr val="1E3348"/>
                </a:solidFill>
                <a:latin typeface="Arial"/>
              </a:defRPr>
            </a:pPr>
            <a:r>
              <a:t>Export includes every matching project row.</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An export request is not proof that the user saved or downloaded a PDF.</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20</a:t>
            </a:r>
          </a:p>
        </p:txBody>
      </p:sp>
      <p:pic>
        <p:nvPicPr>
          <p:cNvPr id="35" name="Picture 34" descr="icon-procurement.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22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WORKFLOW 01</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New Project: from form to workspace</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Walkthrough: Projects &gt; New project &gt; review &gt; save.</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1. Enter the baseline</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Project name and location.</a:t>
            </a:r>
          </a:p>
        </p:txBody>
      </p:sp>
      <p:sp>
        <p:nvSpPr>
          <p:cNvPr id="14" name="Rectangle 13"/>
          <p:cNvSpPr/>
          <p:nvPr/>
        </p:nvSpPr>
        <p:spPr>
          <a:xfrm>
            <a:off x="758952" y="37597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72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Approved budget and contract value: separate</a:t>
            </a:r>
          </a:p>
          <a:p>
            <a:pPr>
              <a:lnSpc>
                <a:spcPts val="2100"/>
              </a:lnSpc>
              <a:spcAft>
                <a:spcPts val="0"/>
              </a:spcAft>
              <a:defRPr sz="1700" b="0">
                <a:solidFill>
                  <a:srgbClr val="1E3348"/>
                </a:solidFill>
                <a:latin typeface="Arial"/>
              </a:defRPr>
            </a:pPr>
            <a:r>
              <a:t>amounts.</a:t>
            </a:r>
          </a:p>
        </p:txBody>
      </p:sp>
      <p:sp>
        <p:nvSpPr>
          <p:cNvPr id="16" name="Rectangle 15"/>
          <p:cNvSpPr/>
          <p:nvPr/>
        </p:nvSpPr>
        <p:spPr>
          <a:xfrm>
            <a:off x="758952" y="44074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Start date and initial status: Planning or Active.</a:t>
            </a:r>
          </a:p>
        </p:txBody>
      </p:sp>
      <p:sp>
        <p:nvSpPr>
          <p:cNvPr id="18" name="Rectangle 17"/>
          <p:cNvSpPr/>
          <p:nvPr/>
        </p:nvSpPr>
        <p:spPr>
          <a:xfrm>
            <a:off x="758952" y="4788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701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Use nonnegative monetary values.</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2. Attach and verify</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Optional initial plan approval file and comment.</a:t>
            </a:r>
          </a:p>
        </p:txBody>
      </p:sp>
      <p:sp>
        <p:nvSpPr>
          <p:cNvPr id="25" name="Rectangle 24"/>
          <p:cNvSpPr/>
          <p:nvPr/>
        </p:nvSpPr>
        <p:spPr>
          <a:xfrm>
            <a:off x="6391656" y="37470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601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PDF, PNG, JPG/JPEG or DOCX; maximum 10 MB.</a:t>
            </a:r>
          </a:p>
        </p:txBody>
      </p:sp>
      <p:sp>
        <p:nvSpPr>
          <p:cNvPr id="27" name="Rectangle 26"/>
          <p:cNvSpPr/>
          <p:nvPr/>
        </p:nvSpPr>
        <p:spPr>
          <a:xfrm>
            <a:off x="6391656" y="41153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0284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Save, then review Overview and the document</a:t>
            </a:r>
          </a:p>
          <a:p>
            <a:pPr>
              <a:lnSpc>
                <a:spcPts val="2000"/>
              </a:lnSpc>
              <a:spcAft>
                <a:spcPts val="0"/>
              </a:spcAft>
              <a:defRPr sz="1600" b="0">
                <a:solidFill>
                  <a:srgbClr val="1E3348"/>
                </a:solidFill>
                <a:latin typeface="Arial"/>
              </a:defRPr>
            </a:pPr>
            <a:r>
              <a:t>record.</a:t>
            </a:r>
          </a:p>
        </p:txBody>
      </p:sp>
      <p:sp>
        <p:nvSpPr>
          <p:cNvPr id="29" name="Rectangle 28"/>
          <p:cNvSpPr/>
          <p:nvPr/>
        </p:nvSpPr>
        <p:spPr>
          <a:xfrm>
            <a:off x="6391656" y="47376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6507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Assign the team and explicit permissions through</a:t>
            </a:r>
          </a:p>
          <a:p>
            <a:pPr>
              <a:lnSpc>
                <a:spcPts val="2000"/>
              </a:lnSpc>
              <a:spcAft>
                <a:spcPts val="0"/>
              </a:spcAft>
              <a:defRPr sz="1600" b="0">
                <a:solidFill>
                  <a:srgbClr val="1E3348"/>
                </a:solidFill>
                <a:latin typeface="Arial"/>
              </a:defRPr>
            </a:pPr>
            <a:r>
              <a:t>Users.</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Create the right project once, then verify its context before entering records.</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22</a:t>
            </a:r>
          </a:p>
        </p:txBody>
      </p:sp>
      <p:pic>
        <p:nvPicPr>
          <p:cNvPr id="35" name="Picture 34" descr="icon-cashflow.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24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WORKFLOW 02</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Change project status safely</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Walkthrough: Overview &gt; Update status &gt; comment &gt; confirm.</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Allowed transitions</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Planning -&gt; Active / On Hold / Cancelled.</a:t>
            </a:r>
          </a:p>
        </p:txBody>
      </p:sp>
      <p:sp>
        <p:nvSpPr>
          <p:cNvPr id="14" name="Rectangle 13"/>
          <p:cNvSpPr/>
          <p:nvPr/>
        </p:nvSpPr>
        <p:spPr>
          <a:xfrm>
            <a:off x="758952" y="37597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Active -&gt; On Hold / Completed / Cancelled.</a:t>
            </a:r>
          </a:p>
        </p:txBody>
      </p:sp>
      <p:sp>
        <p:nvSpPr>
          <p:cNvPr id="16" name="Rectangle 15"/>
          <p:cNvSpPr/>
          <p:nvPr/>
        </p:nvSpPr>
        <p:spPr>
          <a:xfrm>
            <a:off x="758952" y="4140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53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On Hold -&gt; Active / Completed / Cancelled.</a:t>
            </a:r>
          </a:p>
        </p:txBody>
      </p:sp>
      <p:sp>
        <p:nvSpPr>
          <p:cNvPr id="18" name="Rectangle 17"/>
          <p:cNvSpPr/>
          <p:nvPr/>
        </p:nvSpPr>
        <p:spPr>
          <a:xfrm>
            <a:off x="758952" y="4521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434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Cancelled -&gt; Planning; Completed has no next</a:t>
            </a:r>
          </a:p>
          <a:p>
            <a:pPr>
              <a:lnSpc>
                <a:spcPts val="2100"/>
              </a:lnSpc>
              <a:spcAft>
                <a:spcPts val="0"/>
              </a:spcAft>
              <a:defRPr sz="1700" b="0">
                <a:solidFill>
                  <a:srgbClr val="1E3348"/>
                </a:solidFill>
                <a:latin typeface="Arial"/>
              </a:defRPr>
            </a:pPr>
            <a:r>
              <a:t>state.</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Required review</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Choose an offered next state; enter a meaningful</a:t>
            </a:r>
          </a:p>
          <a:p>
            <a:pPr>
              <a:lnSpc>
                <a:spcPts val="2000"/>
              </a:lnSpc>
              <a:spcAft>
                <a:spcPts val="0"/>
              </a:spcAft>
              <a:defRPr sz="1600" b="0">
                <a:solidFill>
                  <a:srgbClr val="1E3348"/>
                </a:solidFill>
                <a:latin typeface="Arial"/>
              </a:defRPr>
            </a:pPr>
            <a:r>
              <a:t>comment.</a:t>
            </a:r>
          </a:p>
        </p:txBody>
      </p:sp>
      <p:sp>
        <p:nvSpPr>
          <p:cNvPr id="25" name="Rectangle 24"/>
          <p:cNvSpPr/>
          <p:nvPr/>
        </p:nvSpPr>
        <p:spPr>
          <a:xfrm>
            <a:off x="6391656" y="40010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9141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On Hold also requires a hold reason.</a:t>
            </a:r>
          </a:p>
        </p:txBody>
      </p:sp>
      <p:sp>
        <p:nvSpPr>
          <p:cNvPr id="27" name="Rectangle 26"/>
          <p:cNvSpPr/>
          <p:nvPr/>
        </p:nvSpPr>
        <p:spPr>
          <a:xfrm>
            <a:off x="6391656" y="43693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2824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Completed requires explicit completion</a:t>
            </a:r>
          </a:p>
          <a:p>
            <a:pPr>
              <a:lnSpc>
                <a:spcPts val="2000"/>
              </a:lnSpc>
              <a:spcAft>
                <a:spcPts val="0"/>
              </a:spcAft>
              <a:defRPr sz="1600" b="0">
                <a:solidFill>
                  <a:srgbClr val="1E3348"/>
                </a:solidFill>
                <a:latin typeface="Arial"/>
              </a:defRPr>
            </a:pPr>
            <a:r>
              <a:t>confirmation.</a:t>
            </a:r>
          </a:p>
        </p:txBody>
      </p:sp>
      <p:sp>
        <p:nvSpPr>
          <p:cNvPr id="29" name="Rectangle 28"/>
          <p:cNvSpPr/>
          <p:nvPr/>
        </p:nvSpPr>
        <p:spPr>
          <a:xfrm>
            <a:off x="6391656" y="49916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9047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Refresh and review if another user changed the</a:t>
            </a:r>
          </a:p>
          <a:p>
            <a:pPr>
              <a:lnSpc>
                <a:spcPts val="2000"/>
              </a:lnSpc>
              <a:spcAft>
                <a:spcPts val="0"/>
              </a:spcAft>
              <a:defRPr sz="1600" b="0">
                <a:solidFill>
                  <a:srgbClr val="1E3348"/>
                </a:solidFill>
                <a:latin typeface="Arial"/>
              </a:defRPr>
            </a:pPr>
            <a:r>
              <a:t>version.</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Review the new state and status-history entry after saving.</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24</a:t>
            </a:r>
          </a:p>
        </p:txBody>
      </p:sp>
      <p:pic>
        <p:nvPicPr>
          <p:cNvPr id="35" name="Picture 34" descr="icon-cashflow.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26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WORKFLOW 03</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Plan documents and project value</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Files, estimate revisions and reports are different outputs.</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Upload a revised plan</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24358"/>
          </a:xfrm>
          <a:prstGeom prst="rect">
            <a:avLst/>
          </a:prstGeom>
          <a:noFill/>
        </p:spPr>
        <p:txBody>
          <a:bodyPr wrap="square" lIns="9144" rIns="9144" tIns="18288" bIns="18288" anchor="t">
            <a:spAutoFit/>
          </a:bodyPr>
          <a:lstStyle/>
          <a:p>
            <a:pPr>
              <a:lnSpc>
                <a:spcPts val="2050"/>
              </a:lnSpc>
              <a:spcAft>
                <a:spcPts val="0"/>
              </a:spcAft>
              <a:defRPr sz="1650" b="0">
                <a:solidFill>
                  <a:srgbClr val="1E3348"/>
                </a:solidFill>
                <a:latin typeface="Arial"/>
              </a:defRPr>
            </a:pPr>
            <a:r>
              <a:t>Allowed while Planning, Active or On Hold.</a:t>
            </a:r>
          </a:p>
        </p:txBody>
      </p:sp>
      <p:sp>
        <p:nvSpPr>
          <p:cNvPr id="14" name="Rectangle 13"/>
          <p:cNvSpPr/>
          <p:nvPr/>
        </p:nvSpPr>
        <p:spPr>
          <a:xfrm>
            <a:off x="758952" y="375335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66489"/>
            <a:ext cx="4773168" cy="324358"/>
          </a:xfrm>
          <a:prstGeom prst="rect">
            <a:avLst/>
          </a:prstGeom>
          <a:noFill/>
        </p:spPr>
        <p:txBody>
          <a:bodyPr wrap="square" lIns="9144" rIns="9144" tIns="18288" bIns="18288" anchor="t">
            <a:spAutoFit/>
          </a:bodyPr>
          <a:lstStyle/>
          <a:p>
            <a:pPr>
              <a:lnSpc>
                <a:spcPts val="2050"/>
              </a:lnSpc>
              <a:spcAft>
                <a:spcPts val="0"/>
              </a:spcAft>
              <a:defRPr sz="1650" b="0">
                <a:solidFill>
                  <a:srgbClr val="1E3348"/>
                </a:solidFill>
                <a:latin typeface="Arial"/>
              </a:defRPr>
            </a:pPr>
            <a:r>
              <a:t>Confirm current value and enter the new estimate.</a:t>
            </a:r>
          </a:p>
        </p:txBody>
      </p:sp>
      <p:sp>
        <p:nvSpPr>
          <p:cNvPr id="16" name="Rectangle 15"/>
          <p:cNvSpPr/>
          <p:nvPr/>
        </p:nvSpPr>
        <p:spPr>
          <a:xfrm>
            <a:off x="758952" y="41280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41140"/>
            <a:ext cx="4773168" cy="584708"/>
          </a:xfrm>
          <a:prstGeom prst="rect">
            <a:avLst/>
          </a:prstGeom>
          <a:noFill/>
        </p:spPr>
        <p:txBody>
          <a:bodyPr wrap="square" lIns="9144" rIns="9144" tIns="18288" bIns="18288" anchor="t">
            <a:spAutoFit/>
          </a:bodyPr>
          <a:lstStyle/>
          <a:p>
            <a:pPr>
              <a:lnSpc>
                <a:spcPts val="2050"/>
              </a:lnSpc>
              <a:spcAft>
                <a:spcPts val="0"/>
              </a:spcAft>
              <a:defRPr sz="1650" b="0">
                <a:solidFill>
                  <a:srgbClr val="1E3348"/>
                </a:solidFill>
                <a:latin typeface="Arial"/>
              </a:defRPr>
            </a:pPr>
            <a:r>
              <a:t>Choose a supported nonempty file and optional</a:t>
            </a:r>
          </a:p>
          <a:p>
            <a:pPr>
              <a:lnSpc>
                <a:spcPts val="2050"/>
              </a:lnSpc>
              <a:spcAft>
                <a:spcPts val="0"/>
              </a:spcAft>
              <a:defRPr sz="1650" b="0">
                <a:solidFill>
                  <a:srgbClr val="1E3348"/>
                </a:solidFill>
                <a:latin typeface="Arial"/>
              </a:defRPr>
            </a:pPr>
            <a:r>
              <a:t>comment.</a:t>
            </a:r>
          </a:p>
        </p:txBody>
      </p:sp>
      <p:sp>
        <p:nvSpPr>
          <p:cNvPr id="18" name="Rectangle 17"/>
          <p:cNvSpPr/>
          <p:nvPr/>
        </p:nvSpPr>
        <p:spPr>
          <a:xfrm>
            <a:off x="758952" y="47630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676140"/>
            <a:ext cx="4773168" cy="324358"/>
          </a:xfrm>
          <a:prstGeom prst="rect">
            <a:avLst/>
          </a:prstGeom>
          <a:noFill/>
        </p:spPr>
        <p:txBody>
          <a:bodyPr wrap="square" lIns="9144" rIns="9144" tIns="18288" bIns="18288" anchor="t">
            <a:spAutoFit/>
          </a:bodyPr>
          <a:lstStyle/>
          <a:p>
            <a:pPr>
              <a:lnSpc>
                <a:spcPts val="2050"/>
              </a:lnSpc>
              <a:spcAft>
                <a:spcPts val="0"/>
              </a:spcAft>
              <a:defRPr sz="1650" b="0">
                <a:solidFill>
                  <a:srgbClr val="1E3348"/>
                </a:solidFill>
                <a:latin typeface="Arial"/>
              </a:defRPr>
            </a:pPr>
            <a:r>
              <a:t>Review plan history and value history after saving.</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Retrieve or report</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Download icon retrieves the original plan file.</a:t>
            </a:r>
          </a:p>
        </p:txBody>
      </p:sp>
      <p:sp>
        <p:nvSpPr>
          <p:cNvPr id="25" name="Rectangle 24"/>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72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Export Report prints the project report, not the</a:t>
            </a:r>
          </a:p>
          <a:p>
            <a:pPr>
              <a:lnSpc>
                <a:spcPts val="2100"/>
              </a:lnSpc>
              <a:spcAft>
                <a:spcPts val="0"/>
              </a:spcAft>
              <a:defRPr sz="1700" b="0">
                <a:solidFill>
                  <a:srgbClr val="1E3348"/>
                </a:solidFill>
                <a:latin typeface="Arial"/>
              </a:defRPr>
            </a:pPr>
            <a:r>
              <a:t>original.</a:t>
            </a:r>
          </a:p>
        </p:txBody>
      </p:sp>
      <p:sp>
        <p:nvSpPr>
          <p:cNvPr id="27" name="Rectangle 26"/>
          <p:cNvSpPr/>
          <p:nvPr/>
        </p:nvSpPr>
        <p:spPr>
          <a:xfrm>
            <a:off x="6391656" y="44074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Revised-plan save updates the current estimate.</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Do not assume a separate project-value</a:t>
            </a:r>
          </a:p>
          <a:p>
            <a:pPr>
              <a:lnSpc>
                <a:spcPts val="2100"/>
              </a:lnSpc>
              <a:spcAft>
                <a:spcPts val="0"/>
              </a:spcAft>
              <a:defRPr sz="1700" b="0">
                <a:solidFill>
                  <a:srgbClr val="1E3348"/>
                </a:solidFill>
                <a:latin typeface="Arial"/>
              </a:defRPr>
            </a:pPr>
            <a:r>
              <a:t>approval queue.</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Keep original documents and their recorded comments traceable.</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26</a:t>
            </a:r>
          </a:p>
        </p:txBody>
      </p:sp>
      <p:pic>
        <p:nvPicPr>
          <p:cNvPr id="35" name="Picture 34" descr="icon-documents.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28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WORKFLOW 04</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Purchasing to stock: two separate events</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Trace the order, receipt and consumption without mixing money and quantity.</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Procurement path</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Create PO -&gt; verify quantity x price and vendor.</a:t>
            </a:r>
          </a:p>
        </p:txBody>
      </p:sp>
      <p:sp>
        <p:nvSpPr>
          <p:cNvPr id="14" name="Rectangle 13"/>
          <p:cNvSpPr/>
          <p:nvPr/>
        </p:nvSpPr>
        <p:spPr>
          <a:xfrm>
            <a:off x="758952" y="37597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72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Optional initial payment -&gt; check total and</a:t>
            </a:r>
          </a:p>
          <a:p>
            <a:pPr>
              <a:lnSpc>
                <a:spcPts val="2100"/>
              </a:lnSpc>
              <a:spcAft>
                <a:spcPts val="0"/>
              </a:spcAft>
              <a:defRPr sz="1700" b="0">
                <a:solidFill>
                  <a:srgbClr val="1E3348"/>
                </a:solidFill>
                <a:latin typeface="Arial"/>
              </a:defRPr>
            </a:pPr>
            <a:r>
              <a:t>balance.</a:t>
            </a:r>
          </a:p>
        </p:txBody>
      </p:sp>
      <p:sp>
        <p:nvSpPr>
          <p:cNvPr id="16" name="Rectangle 15"/>
          <p:cNvSpPr/>
          <p:nvPr/>
        </p:nvSpPr>
        <p:spPr>
          <a:xfrm>
            <a:off x="758952" y="44074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Later installments -&gt; inspect payment history.</a:t>
            </a:r>
          </a:p>
        </p:txBody>
      </p:sp>
      <p:sp>
        <p:nvSpPr>
          <p:cNvPr id="18" name="Rectangle 17"/>
          <p:cNvSpPr/>
          <p:nvPr/>
        </p:nvSpPr>
        <p:spPr>
          <a:xfrm>
            <a:off x="758952" y="4788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701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Edit only while the record remains eligible.</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Inventory path</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Receive actual quantity, with PO/reference when</a:t>
            </a:r>
          </a:p>
          <a:p>
            <a:pPr>
              <a:lnSpc>
                <a:spcPts val="2100"/>
              </a:lnSpc>
              <a:spcAft>
                <a:spcPts val="0"/>
              </a:spcAft>
              <a:defRPr sz="1700" b="0">
                <a:solidFill>
                  <a:srgbClr val="1E3348"/>
                </a:solidFill>
                <a:latin typeface="Arial"/>
              </a:defRPr>
            </a:pPr>
            <a:r>
              <a:t>applicable.</a:t>
            </a:r>
          </a:p>
        </p:txBody>
      </p:sp>
      <p:sp>
        <p:nvSpPr>
          <p:cNvPr id="25" name="Rectangle 24"/>
          <p:cNvSpPr/>
          <p:nvPr/>
        </p:nvSpPr>
        <p:spPr>
          <a:xfrm>
            <a:off x="6391656" y="4026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Use material when consumed on site.</a:t>
            </a:r>
          </a:p>
        </p:txBody>
      </p:sp>
      <p:sp>
        <p:nvSpPr>
          <p:cNvPr id="27" name="Rectangle 26"/>
          <p:cNvSpPr/>
          <p:nvPr/>
        </p:nvSpPr>
        <p:spPr>
          <a:xfrm>
            <a:off x="6391656" y="4407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Verify available balance and the stock ledger.</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Check units and separate Receive/Use grants.</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Paying a vendor neither receives stock nor records site consumption.</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28</a:t>
            </a:r>
          </a:p>
        </p:txBody>
      </p:sp>
      <p:pic>
        <p:nvPicPr>
          <p:cNvPr id="35" name="Picture 34" descr="icon-workflow.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29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WORKFLOW 05</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Labor: choose the correct cost path</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Avoid double counting work, certification and payment.</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Direct labor</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Add worker -&gt; log work quantity/unit/rate.</a:t>
            </a:r>
          </a:p>
        </p:txBody>
      </p:sp>
      <p:sp>
        <p:nvSpPr>
          <p:cNvPr id="14" name="Rectangle 13"/>
          <p:cNvSpPr/>
          <p:nvPr/>
        </p:nvSpPr>
        <p:spPr>
          <a:xfrm>
            <a:off x="758952" y="37597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Work amount contributes to earnings and cost.</a:t>
            </a:r>
          </a:p>
        </p:txBody>
      </p:sp>
      <p:sp>
        <p:nvSpPr>
          <p:cNvPr id="16" name="Rectangle 15"/>
          <p:cNvSpPr/>
          <p:nvPr/>
        </p:nvSpPr>
        <p:spPr>
          <a:xfrm>
            <a:off x="758952" y="4140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53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Record wage payment as settlement.</a:t>
            </a:r>
          </a:p>
        </p:txBody>
      </p:sp>
      <p:sp>
        <p:nvSpPr>
          <p:cNvPr id="18" name="Rectangle 17"/>
          <p:cNvSpPr/>
          <p:nvPr/>
        </p:nvSpPr>
        <p:spPr>
          <a:xfrm>
            <a:off x="758952" y="4521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434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Compare earned, paid and payable.</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Contract labor</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Create contract -&gt; submit claim -&gt; review/certify.</a:t>
            </a:r>
          </a:p>
        </p:txBody>
      </p:sp>
      <p:sp>
        <p:nvSpPr>
          <p:cNvPr id="25" name="Rectangle 24"/>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Certified claims contribute to cost.</a:t>
            </a:r>
          </a:p>
        </p:txBody>
      </p:sp>
      <p:sp>
        <p:nvSpPr>
          <p:cNvPr id="27" name="Rectangle 26"/>
          <p:cNvSpPr/>
          <p:nvPr/>
        </p:nvSpPr>
        <p:spPr>
          <a:xfrm>
            <a:off x="6391656" y="4140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053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Pay eligible claim and retain payment</a:t>
            </a:r>
          </a:p>
          <a:p>
            <a:pPr>
              <a:lnSpc>
                <a:spcPts val="2100"/>
              </a:lnSpc>
              <a:spcAft>
                <a:spcPts val="0"/>
              </a:spcAft>
              <a:defRPr sz="1700" b="0">
                <a:solidFill>
                  <a:srgbClr val="1E3348"/>
                </a:solidFill>
                <a:latin typeface="Arial"/>
              </a:defRPr>
            </a:pPr>
            <a:r>
              <a:t>references.</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Review scope/value changes through addenda.</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Do not add payments to cost again when the work/claim is already counted.</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29</a:t>
            </a:r>
          </a:p>
        </p:txBody>
      </p:sp>
      <p:pic>
        <p:nvPicPr>
          <p:cNvPr id="35" name="Picture 34" descr="icon-labor.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30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ACCOUNT MANAGEMENT</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Add/Edit User: two steps</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Account details first, access configuration second.</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Step 1: account details</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Full name; optional work email and contact</a:t>
            </a:r>
          </a:p>
          <a:p>
            <a:pPr>
              <a:lnSpc>
                <a:spcPts val="2100"/>
              </a:lnSpc>
              <a:spcAft>
                <a:spcPts val="0"/>
              </a:spcAft>
              <a:defRPr sz="1700" b="0">
                <a:solidFill>
                  <a:srgbClr val="1E3348"/>
                </a:solidFill>
                <a:latin typeface="Arial"/>
              </a:defRPr>
            </a:pPr>
            <a:r>
              <a:t>number.</a:t>
            </a:r>
          </a:p>
        </p:txBody>
      </p:sp>
      <p:sp>
        <p:nvSpPr>
          <p:cNvPr id="14" name="Rectangle 13"/>
          <p:cNvSpPr/>
          <p:nvPr/>
        </p:nvSpPr>
        <p:spPr>
          <a:xfrm>
            <a:off x="758952" y="4026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Unique username, fixed after account creation.</a:t>
            </a:r>
          </a:p>
        </p:txBody>
      </p:sp>
      <p:sp>
        <p:nvSpPr>
          <p:cNvPr id="16" name="Rectangle 15"/>
          <p:cNvSpPr/>
          <p:nvPr/>
        </p:nvSpPr>
        <p:spPr>
          <a:xfrm>
            <a:off x="758952" y="4407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20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Password and confirmation; minimum six</a:t>
            </a:r>
          </a:p>
          <a:p>
            <a:pPr>
              <a:lnSpc>
                <a:spcPts val="2100"/>
              </a:lnSpc>
              <a:spcAft>
                <a:spcPts val="0"/>
              </a:spcAft>
              <a:defRPr sz="1700" b="0">
                <a:solidFill>
                  <a:srgbClr val="1E3348"/>
                </a:solidFill>
                <a:latin typeface="Arial"/>
              </a:defRPr>
            </a:pPr>
            <a:r>
              <a:t>characters.</a:t>
            </a:r>
          </a:p>
        </p:txBody>
      </p:sp>
      <p:sp>
        <p:nvSpPr>
          <p:cNvPr id="18" name="Rectangle 17"/>
          <p:cNvSpPr/>
          <p:nvPr/>
        </p:nvSpPr>
        <p:spPr>
          <a:xfrm>
            <a:off x="758952" y="50551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9682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On Edit, leave password blank to keep it.</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Step 2: access</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Select projects and project permission scope.</a:t>
            </a:r>
          </a:p>
        </p:txBody>
      </p:sp>
      <p:sp>
        <p:nvSpPr>
          <p:cNvPr id="25" name="Rectangle 24"/>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72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Use shared selected projects or Global as</a:t>
            </a:r>
          </a:p>
          <a:p>
            <a:pPr>
              <a:lnSpc>
                <a:spcPts val="2100"/>
              </a:lnSpc>
              <a:spcAft>
                <a:spcPts val="0"/>
              </a:spcAft>
              <a:defRPr sz="1700" b="0">
                <a:solidFill>
                  <a:srgbClr val="1E3348"/>
                </a:solidFill>
                <a:latin typeface="Arial"/>
              </a:defRPr>
            </a:pPr>
            <a:r>
              <a:t>appropriate.</a:t>
            </a:r>
          </a:p>
        </p:txBody>
      </p:sp>
      <p:sp>
        <p:nvSpPr>
          <p:cNvPr id="27" name="Rectangle 26"/>
          <p:cNvSpPr/>
          <p:nvPr/>
        </p:nvSpPr>
        <p:spPr>
          <a:xfrm>
            <a:off x="6391656" y="44074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Configure Users and Audit Log separately.</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Review individual action grants, then save.</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A password change through Edit still requires Reset Password permission.</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30</a:t>
            </a:r>
          </a:p>
        </p:txBody>
      </p:sp>
      <p:pic>
        <p:nvPicPr>
          <p:cNvPr id="35" name="Picture 34" descr="icon-users.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32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AUTHORIZATION</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Project permissions and access scopes</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Permission profiles replace the old business-role model.</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Choose the project scope</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Individual: configure each assigned project.</a:t>
            </a:r>
          </a:p>
        </p:txBody>
      </p:sp>
      <p:sp>
        <p:nvSpPr>
          <p:cNvPr id="14" name="Rectangle 13"/>
          <p:cNvSpPr/>
          <p:nvPr/>
        </p:nvSpPr>
        <p:spPr>
          <a:xfrm>
            <a:off x="758952" y="37597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72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Shared: one saved profile for checked projects</a:t>
            </a:r>
          </a:p>
          <a:p>
            <a:pPr>
              <a:lnSpc>
                <a:spcPts val="2100"/>
              </a:lnSpc>
              <a:spcAft>
                <a:spcPts val="0"/>
              </a:spcAft>
              <a:defRPr sz="1700" b="0">
                <a:solidFill>
                  <a:srgbClr val="1E3348"/>
                </a:solidFill>
                <a:latin typeface="Arial"/>
              </a:defRPr>
            </a:pPr>
            <a:r>
              <a:t>only.</a:t>
            </a:r>
          </a:p>
        </p:txBody>
      </p:sp>
      <p:sp>
        <p:nvSpPr>
          <p:cNvPr id="16" name="Rectangle 15"/>
          <p:cNvSpPr/>
          <p:nvPr/>
        </p:nvSpPr>
        <p:spPr>
          <a:xfrm>
            <a:off x="758952" y="44074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20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Shared preset allows operational modules, not</a:t>
            </a:r>
          </a:p>
          <a:p>
            <a:pPr>
              <a:lnSpc>
                <a:spcPts val="2100"/>
              </a:lnSpc>
              <a:spcAft>
                <a:spcPts val="0"/>
              </a:spcAft>
              <a:defRPr sz="1700" b="0">
                <a:solidFill>
                  <a:srgbClr val="1E3348"/>
                </a:solidFill>
                <a:latin typeface="Arial"/>
              </a:defRPr>
            </a:pPr>
            <a:r>
              <a:t>Users.</a:t>
            </a:r>
          </a:p>
        </p:txBody>
      </p:sp>
      <p:sp>
        <p:nvSpPr>
          <p:cNvPr id="18" name="Rectangle 17"/>
          <p:cNvSpPr/>
          <p:nvPr/>
        </p:nvSpPr>
        <p:spPr>
          <a:xfrm>
            <a:off x="758952" y="50551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968239"/>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Global: baseline across all available projects.</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Choose module capability</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Access Allow/Block controls the page.</a:t>
            </a:r>
          </a:p>
        </p:txBody>
      </p:sp>
      <p:sp>
        <p:nvSpPr>
          <p:cNvPr id="25" name="Rectangle 24"/>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Read Export controls reporting.</a:t>
            </a:r>
          </a:p>
        </p:txBody>
      </p:sp>
      <p:sp>
        <p:nvSpPr>
          <p:cNvPr id="27" name="Rectangle 26"/>
          <p:cNvSpPr/>
          <p:nvPr/>
        </p:nvSpPr>
        <p:spPr>
          <a:xfrm>
            <a:off x="6391656" y="4140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053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Write All or only checked Partial actions.</a:t>
            </a:r>
          </a:p>
        </p:txBody>
      </p:sp>
      <p:sp>
        <p:nvSpPr>
          <p:cNvPr id="29" name="Rectangle 28"/>
          <p:cNvSpPr/>
          <p:nvPr/>
        </p:nvSpPr>
        <p:spPr>
          <a:xfrm>
            <a:off x="6391656" y="4521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434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Explicit project modules override the Global</a:t>
            </a:r>
          </a:p>
          <a:p>
            <a:pPr>
              <a:lnSpc>
                <a:spcPts val="2100"/>
              </a:lnSpc>
              <a:spcAft>
                <a:spcPts val="0"/>
              </a:spcAft>
              <a:defRPr sz="1700" b="0">
                <a:solidFill>
                  <a:srgbClr val="1E3348"/>
                </a:solidFill>
                <a:latin typeface="Arial"/>
              </a:defRPr>
            </a:pPr>
            <a:r>
              <a:t>baseline.</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Global automatically includes Users/Audit grants, not an override of every project restriction.</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32</a:t>
            </a:r>
          </a:p>
        </p:txBody>
      </p:sp>
      <p:pic>
        <p:nvPicPr>
          <p:cNvPr id="35" name="Picture 34" descr="icon-permissions.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34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AUTHORIZATION</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Standalone Users and Audit permissions</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Administrative menus have their own account-level access settings.</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Users</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Access and Export directory.</a:t>
            </a:r>
          </a:p>
        </p:txBody>
      </p:sp>
      <p:sp>
        <p:nvSpPr>
          <p:cNvPr id="14" name="Rectangle 13"/>
          <p:cNvSpPr/>
          <p:nvPr/>
        </p:nvSpPr>
        <p:spPr>
          <a:xfrm>
            <a:off x="758952" y="37597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Add/Edit; Reset Password; Activate/Deactivate.</a:t>
            </a:r>
          </a:p>
        </p:txBody>
      </p:sp>
      <p:sp>
        <p:nvSpPr>
          <p:cNvPr id="16" name="Rectangle 15"/>
          <p:cNvSpPr/>
          <p:nvPr/>
        </p:nvSpPr>
        <p:spPr>
          <a:xfrm>
            <a:off x="758952" y="4140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53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Delete; History.</a:t>
            </a:r>
          </a:p>
        </p:txBody>
      </p:sp>
      <p:sp>
        <p:nvSpPr>
          <p:cNvPr id="18" name="Rectangle 17"/>
          <p:cNvSpPr/>
          <p:nvPr/>
        </p:nvSpPr>
        <p:spPr>
          <a:xfrm>
            <a:off x="758952" y="4521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434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Can be granted without any assigned project.</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Audit Log</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Separate Access and Export Report grants.</a:t>
            </a:r>
          </a:p>
        </p:txBody>
      </p:sp>
      <p:sp>
        <p:nvSpPr>
          <p:cNvPr id="25" name="Rectangle 24"/>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Still needs an accessible selected project.</a:t>
            </a:r>
          </a:p>
        </p:txBody>
      </p:sp>
      <p:sp>
        <p:nvSpPr>
          <p:cNvPr id="27" name="Rectangle 26"/>
          <p:cNvSpPr/>
          <p:nvPr/>
        </p:nvSpPr>
        <p:spPr>
          <a:xfrm>
            <a:off x="6391656" y="4140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053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Global accounts include both capabilities.</a:t>
            </a:r>
          </a:p>
        </p:txBody>
      </p:sp>
      <p:sp>
        <p:nvSpPr>
          <p:cNvPr id="29" name="Rectangle 28"/>
          <p:cNvSpPr/>
          <p:nvPr/>
        </p:nvSpPr>
        <p:spPr>
          <a:xfrm>
            <a:off x="6391656" y="4521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434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Read activity without granting operational writes.</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Grant only the actions a person needs; self lifecycle actions are protected.</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34</a:t>
            </a:r>
          </a:p>
        </p:txBody>
      </p:sp>
      <p:pic>
        <p:nvPicPr>
          <p:cNvPr id="35" name="Picture 34" descr="icon-permissions.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35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AUDIT WORKFLOW</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Investigate a time interval</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Audit Log &gt; calendar filter &gt; choose range/time &gt; Apply.</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Select the interval</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Today / Yesterday / Last 7 days / This month</a:t>
            </a:r>
          </a:p>
          <a:p>
            <a:pPr>
              <a:lnSpc>
                <a:spcPts val="2100"/>
              </a:lnSpc>
              <a:spcAft>
                <a:spcPts val="0"/>
              </a:spcAft>
              <a:defRPr sz="1700" b="0">
                <a:solidFill>
                  <a:srgbClr val="1E3348"/>
                </a:solidFill>
                <a:latin typeface="Arial"/>
              </a:defRPr>
            </a:pPr>
            <a:r>
              <a:t>shortcuts.</a:t>
            </a:r>
          </a:p>
        </p:txBody>
      </p:sp>
      <p:sp>
        <p:nvSpPr>
          <p:cNvPr id="14" name="Rectangle 13"/>
          <p:cNvSpPr/>
          <p:nvPr/>
        </p:nvSpPr>
        <p:spPr>
          <a:xfrm>
            <a:off x="758952" y="4026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Select start and end dates in the calendar.</a:t>
            </a:r>
          </a:p>
        </p:txBody>
      </p:sp>
      <p:sp>
        <p:nvSpPr>
          <p:cNvPr id="16" name="Rectangle 15"/>
          <p:cNvSpPr/>
          <p:nvPr/>
        </p:nvSpPr>
        <p:spPr>
          <a:xfrm>
            <a:off x="758952" y="4407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Choose From/To time on the analog dial.</a:t>
            </a:r>
          </a:p>
        </p:txBody>
      </p:sp>
      <p:sp>
        <p:nvSpPr>
          <p:cNvPr id="18" name="Rectangle 17"/>
          <p:cNvSpPr/>
          <p:nvPr/>
        </p:nvSpPr>
        <p:spPr>
          <a:xfrm>
            <a:off x="758952" y="4788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701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Select hour, minute and AM/PM; confirm with</a:t>
            </a:r>
          </a:p>
          <a:p>
            <a:pPr>
              <a:lnSpc>
                <a:spcPts val="2100"/>
              </a:lnSpc>
              <a:spcAft>
                <a:spcPts val="0"/>
              </a:spcAft>
              <a:defRPr sz="1700" b="0">
                <a:solidFill>
                  <a:srgbClr val="1E3348"/>
                </a:solidFill>
                <a:latin typeface="Arial"/>
              </a:defRPr>
            </a:pPr>
            <a:r>
              <a:t>OK.</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Review the results</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Apply commits the draft range and resets</a:t>
            </a:r>
          </a:p>
          <a:p>
            <a:pPr>
              <a:lnSpc>
                <a:spcPts val="2100"/>
              </a:lnSpc>
              <a:spcAft>
                <a:spcPts val="0"/>
              </a:spcAft>
              <a:defRPr sz="1700" b="0">
                <a:solidFill>
                  <a:srgbClr val="1E3348"/>
                </a:solidFill>
                <a:latin typeface="Arial"/>
              </a:defRPr>
            </a:pPr>
            <a:r>
              <a:t>pagination.</a:t>
            </a:r>
          </a:p>
        </p:txBody>
      </p:sp>
      <p:sp>
        <p:nvSpPr>
          <p:cNvPr id="25" name="Rectangle 24"/>
          <p:cNvSpPr/>
          <p:nvPr/>
        </p:nvSpPr>
        <p:spPr>
          <a:xfrm>
            <a:off x="6391656" y="4026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Search narrows username/activity.</a:t>
            </a:r>
          </a:p>
        </p:txBody>
      </p:sp>
      <p:sp>
        <p:nvSpPr>
          <p:cNvPr id="27" name="Rectangle 26"/>
          <p:cNvSpPr/>
          <p:nvPr/>
        </p:nvSpPr>
        <p:spPr>
          <a:xfrm>
            <a:off x="6391656" y="4407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Clear filters restores the full list.</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Export fetches all matching rows, newest first.</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Local input is sent with timezone information; To includes its ending minute.</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35</a:t>
            </a:r>
          </a:p>
        </p:txBody>
      </p:sp>
      <p:pic>
        <p:nvPicPr>
          <p:cNvPr id="35" name="Picture 34" descr="icon-filter.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37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REPORTING</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Export Report: how PDF is created</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The application prepares a report; your browser creates the saved PDF.</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1. Prepare</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Confirm project, permission and intended report</a:t>
            </a:r>
          </a:p>
          <a:p>
            <a:pPr>
              <a:lnSpc>
                <a:spcPts val="2000"/>
              </a:lnSpc>
              <a:spcAft>
                <a:spcPts val="0"/>
              </a:spcAft>
              <a:defRPr sz="1600" b="0">
                <a:solidFill>
                  <a:srgbClr val="1E3348"/>
                </a:solidFill>
                <a:latin typeface="Arial"/>
              </a:defRPr>
            </a:pPr>
            <a:r>
              <a:t>scope.</a:t>
            </a:r>
          </a:p>
        </p:txBody>
      </p:sp>
      <p:sp>
        <p:nvSpPr>
          <p:cNvPr id="14" name="Rectangle 13"/>
          <p:cNvSpPr/>
          <p:nvPr/>
        </p:nvSpPr>
        <p:spPr>
          <a:xfrm>
            <a:off x="758952" y="40010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141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Select Export report and wait for data/fonts.</a:t>
            </a:r>
          </a:p>
        </p:txBody>
      </p:sp>
      <p:sp>
        <p:nvSpPr>
          <p:cNvPr id="16" name="Rectangle 15"/>
          <p:cNvSpPr/>
          <p:nvPr/>
        </p:nvSpPr>
        <p:spPr>
          <a:xfrm>
            <a:off x="758952" y="43693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2824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Company logo/name, report title and date are</a:t>
            </a:r>
          </a:p>
          <a:p>
            <a:pPr>
              <a:lnSpc>
                <a:spcPts val="2000"/>
              </a:lnSpc>
              <a:spcAft>
                <a:spcPts val="0"/>
              </a:spcAft>
              <a:defRPr sz="1600" b="0">
                <a:solidFill>
                  <a:srgbClr val="1E3348"/>
                </a:solidFill>
                <a:latin typeface="Arial"/>
              </a:defRPr>
            </a:pPr>
            <a:r>
              <a:t>included.</a:t>
            </a:r>
          </a:p>
        </p:txBody>
      </p:sp>
      <p:sp>
        <p:nvSpPr>
          <p:cNvPr id="18" name="Rectangle 17"/>
          <p:cNvSpPr/>
          <p:nvPr/>
        </p:nvSpPr>
        <p:spPr>
          <a:xfrm>
            <a:off x="758952" y="49916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9047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Screen Dark mode does not carry into the print</a:t>
            </a:r>
          </a:p>
          <a:p>
            <a:pPr>
              <a:lnSpc>
                <a:spcPts val="2000"/>
              </a:lnSpc>
              <a:spcAft>
                <a:spcPts val="0"/>
              </a:spcAft>
              <a:defRPr sz="1600" b="0">
                <a:solidFill>
                  <a:srgbClr val="1E3348"/>
                </a:solidFill>
                <a:latin typeface="Arial"/>
              </a:defRPr>
            </a:pPr>
            <a:r>
              <a:t>palette.</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2. Preview and save</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Browser print opens -&gt; select Save as PDF.</a:t>
            </a:r>
          </a:p>
        </p:txBody>
      </p:sp>
      <p:sp>
        <p:nvSpPr>
          <p:cNvPr id="25" name="Rectangle 24"/>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Choose pages, orientation, scale and margins.</a:t>
            </a:r>
          </a:p>
        </p:txBody>
      </p:sp>
      <p:sp>
        <p:nvSpPr>
          <p:cNvPr id="27" name="Rectangle 26"/>
          <p:cNvSpPr/>
          <p:nvPr/>
        </p:nvSpPr>
        <p:spPr>
          <a:xfrm>
            <a:off x="6391656" y="4140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053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Review all rows/sections in the preview.</a:t>
            </a:r>
          </a:p>
        </p:txBody>
      </p:sp>
      <p:sp>
        <p:nvSpPr>
          <p:cNvPr id="29" name="Rectangle 28"/>
          <p:cNvSpPr/>
          <p:nvPr/>
        </p:nvSpPr>
        <p:spPr>
          <a:xfrm>
            <a:off x="6391656" y="4521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434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Save locally; Cancel does not save a document.</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The export audit event records the request, not successful PDF completion.</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37</a:t>
            </a:r>
          </a:p>
        </p:txBody>
      </p:sp>
      <p:pic>
        <p:nvPicPr>
          <p:cNvPr id="35" name="Picture 34" descr="icon-export.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39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REPORTING</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Know what your report includes</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Do not assume every export ignores pagination and filters.</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Explicit full-data preparation</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Audit: every project row matching search and</a:t>
            </a:r>
          </a:p>
          <a:p>
            <a:pPr>
              <a:lnSpc>
                <a:spcPts val="2100"/>
              </a:lnSpc>
              <a:spcAft>
                <a:spcPts val="0"/>
              </a:spcAft>
              <a:defRPr sz="1700" b="0">
                <a:solidFill>
                  <a:srgbClr val="1E3348"/>
                </a:solidFill>
                <a:latin typeface="Arial"/>
              </a:defRPr>
            </a:pPr>
            <a:r>
              <a:t>time range.</a:t>
            </a:r>
          </a:p>
        </p:txBody>
      </p:sp>
      <p:sp>
        <p:nvSpPr>
          <p:cNvPr id="14" name="Rectangle 13"/>
          <p:cNvSpPr/>
          <p:nvPr/>
        </p:nvSpPr>
        <p:spPr>
          <a:xfrm>
            <a:off x="758952" y="4026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Procurement: all project POs, not screen filters.</a:t>
            </a:r>
          </a:p>
        </p:txBody>
      </p:sp>
      <p:sp>
        <p:nvSpPr>
          <p:cNvPr id="16" name="Rectangle 15"/>
          <p:cNvSpPr/>
          <p:nvPr/>
        </p:nvSpPr>
        <p:spPr>
          <a:xfrm>
            <a:off x="758952" y="4407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Users: loaded directory with the current search.</a:t>
            </a:r>
          </a:p>
        </p:txBody>
      </p:sp>
      <p:sp>
        <p:nvSpPr>
          <p:cNvPr id="18" name="Rounded Rectangle 17"/>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Rendered-section reports</a:t>
            </a:r>
          </a:p>
        </p:txBody>
      </p:sp>
      <p:sp>
        <p:nvSpPr>
          <p:cNvPr id="21" name="Rectangle 20"/>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Overview: restricted sections stay empty.</a:t>
            </a:r>
          </a:p>
        </p:txBody>
      </p:sp>
      <p:sp>
        <p:nvSpPr>
          <p:cNvPr id="23" name="Rectangle 22"/>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Inventory/Cash flow: check filters and pages.</a:t>
            </a:r>
          </a:p>
        </p:txBody>
      </p:sp>
      <p:sp>
        <p:nvSpPr>
          <p:cNvPr id="25" name="Rectangle 24"/>
          <p:cNvSpPr/>
          <p:nvPr/>
        </p:nvSpPr>
        <p:spPr>
          <a:xfrm>
            <a:off x="6391656" y="4140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4053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Labor: check pages and expanded sections.</a:t>
            </a:r>
          </a:p>
        </p:txBody>
      </p:sp>
      <p:sp>
        <p:nvSpPr>
          <p:cNvPr id="27" name="Rectangle 26"/>
          <p:cNvSpPr/>
          <p:nvPr/>
        </p:nvSpPr>
        <p:spPr>
          <a:xfrm>
            <a:off x="6391656" y="4521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434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Inspect preview before treating a PDF as</a:t>
            </a:r>
          </a:p>
          <a:p>
            <a:pPr>
              <a:lnSpc>
                <a:spcPts val="2100"/>
              </a:lnSpc>
              <a:spcAft>
                <a:spcPts val="0"/>
              </a:spcAft>
              <a:defRPr sz="1700" b="0">
                <a:solidFill>
                  <a:srgbClr val="1E3348"/>
                </a:solidFill>
                <a:latin typeface="Arial"/>
              </a:defRPr>
            </a:pPr>
            <a:r>
              <a:t>complete.</a:t>
            </a:r>
          </a:p>
        </p:txBody>
      </p:sp>
      <p:sp>
        <p:nvSpPr>
          <p:cNvPr id="29" name="Rounded Rectangle 28"/>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Original-file Download is different from Export report.</a:t>
            </a:r>
          </a:p>
        </p:txBody>
      </p:sp>
      <p:sp>
        <p:nvSpPr>
          <p:cNvPr id="31" name="TextBox 30"/>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2" name="TextBox 31"/>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39</a:t>
            </a:r>
          </a:p>
        </p:txBody>
      </p:sp>
      <p:pic>
        <p:nvPicPr>
          <p:cNvPr id="33" name="Picture 32" descr="icon-export.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40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RECONCILIATION</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Understand the financial numbers</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Illustrative example: different bases do not imply a mismatch.</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Cost and commitments</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POs 100,000 + direct earnings 10,000 + certified</a:t>
            </a:r>
          </a:p>
          <a:p>
            <a:pPr>
              <a:lnSpc>
                <a:spcPts val="2100"/>
              </a:lnSpc>
              <a:spcAft>
                <a:spcPts val="0"/>
              </a:spcAft>
              <a:defRPr sz="1700" b="0">
                <a:solidFill>
                  <a:srgbClr val="1E3348"/>
                </a:solidFill>
                <a:latin typeface="Arial"/>
              </a:defRPr>
            </a:pPr>
            <a:r>
              <a:t>claims 20,000.</a:t>
            </a:r>
          </a:p>
        </p:txBody>
      </p:sp>
      <p:sp>
        <p:nvSpPr>
          <p:cNvPr id="14" name="Rectangle 13"/>
          <p:cNvSpPr/>
          <p:nvPr/>
        </p:nvSpPr>
        <p:spPr>
          <a:xfrm>
            <a:off x="758952" y="4026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Actual cost = INR 130,000.</a:t>
            </a:r>
          </a:p>
        </p:txBody>
      </p:sp>
      <p:sp>
        <p:nvSpPr>
          <p:cNvPr id="16" name="Rectangle 15"/>
          <p:cNvSpPr/>
          <p:nvPr/>
        </p:nvSpPr>
        <p:spPr>
          <a:xfrm>
            <a:off x="758952" y="4407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Contract INR 200,000 -&gt; projected margin 35%.</a:t>
            </a:r>
          </a:p>
        </p:txBody>
      </p:sp>
      <p:sp>
        <p:nvSpPr>
          <p:cNvPr id="18" name="Rectangle 17"/>
          <p:cNvSpPr/>
          <p:nvPr/>
        </p:nvSpPr>
        <p:spPr>
          <a:xfrm>
            <a:off x="758952" y="4788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701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Vendor paid 30,000 -&gt; PO outstanding 70,000.</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Client money and inventory</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Billed 80,000; receipts 50,000.</a:t>
            </a:r>
          </a:p>
        </p:txBody>
      </p:sp>
      <p:sp>
        <p:nvSpPr>
          <p:cNvPr id="25" name="Rectangle 24"/>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72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Only 40,000 allocated -&gt; billed outstanding</a:t>
            </a:r>
          </a:p>
          <a:p>
            <a:pPr>
              <a:lnSpc>
                <a:spcPts val="2100"/>
              </a:lnSpc>
              <a:spcAft>
                <a:spcPts val="0"/>
              </a:spcAft>
              <a:defRPr sz="1700" b="0">
                <a:solidFill>
                  <a:srgbClr val="1E3348"/>
                </a:solidFill>
                <a:latin typeface="Arial"/>
              </a:defRPr>
            </a:pPr>
            <a:r>
              <a:t>40,000.</a:t>
            </a:r>
          </a:p>
        </p:txBody>
      </p:sp>
      <p:sp>
        <p:nvSpPr>
          <p:cNvPr id="27" name="Rectangle 26"/>
          <p:cNvSpPr/>
          <p:nvPr/>
        </p:nvSpPr>
        <p:spPr>
          <a:xfrm>
            <a:off x="6391656" y="44074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Remaining stock value is not all PO cost.</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Payments settle liabilities; do not add them to</a:t>
            </a:r>
          </a:p>
          <a:p>
            <a:pPr>
              <a:lnSpc>
                <a:spcPts val="2100"/>
              </a:lnSpc>
              <a:spcAft>
                <a:spcPts val="0"/>
              </a:spcAft>
              <a:defRPr sz="1700" b="0">
                <a:solidFill>
                  <a:srgbClr val="1E3348"/>
                </a:solidFill>
                <a:latin typeface="Arial"/>
              </a:defRPr>
            </a:pPr>
            <a:r>
              <a:t>cost twice.</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Compare the same project, currency, date basis and record state.</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40</a:t>
            </a:r>
          </a:p>
        </p:txBody>
      </p:sp>
      <p:pic>
        <p:nvPicPr>
          <p:cNvPr id="35" name="Picture 34" descr="icon-cashflow.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41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PERSONAL WORKSPACE</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My Details, Notes and mobile work</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Small tools that support work across modules.</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My Details and Notes</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Badge opens read-only</a:t>
            </a:r>
          </a:p>
          <a:p>
            <a:pPr>
              <a:lnSpc>
                <a:spcPts val="2100"/>
              </a:lnSpc>
              <a:spcAft>
                <a:spcPts val="0"/>
              </a:spcAft>
              <a:defRPr sz="1700" b="0">
                <a:solidFill>
                  <a:srgbClr val="1E3348"/>
                </a:solidFill>
                <a:latin typeface="Arial"/>
              </a:defRPr>
            </a:pPr>
            <a:r>
              <a:t>account/contact/permission details.</a:t>
            </a:r>
          </a:p>
        </p:txBody>
      </p:sp>
      <p:sp>
        <p:nvSpPr>
          <p:cNvPr id="14" name="Rectangle 13"/>
          <p:cNvSpPr/>
          <p:nvPr/>
        </p:nvSpPr>
        <p:spPr>
          <a:xfrm>
            <a:off x="758952" y="4026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39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Notes auto-save per account in the current</a:t>
            </a:r>
          </a:p>
          <a:p>
            <a:pPr>
              <a:lnSpc>
                <a:spcPts val="2100"/>
              </a:lnSpc>
              <a:spcAft>
                <a:spcPts val="0"/>
              </a:spcAft>
              <a:defRPr sz="1700" b="0">
                <a:solidFill>
                  <a:srgbClr val="1E3348"/>
                </a:solidFill>
                <a:latin typeface="Arial"/>
              </a:defRPr>
            </a:pPr>
            <a:r>
              <a:t>browser session.</a:t>
            </a:r>
          </a:p>
        </p:txBody>
      </p:sp>
      <p:sp>
        <p:nvSpPr>
          <p:cNvPr id="16" name="Rectangle 15"/>
          <p:cNvSpPr/>
          <p:nvPr/>
        </p:nvSpPr>
        <p:spPr>
          <a:xfrm>
            <a:off x="758952" y="46741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5872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Resize the left edge; collapse without clearing.</a:t>
            </a:r>
          </a:p>
        </p:txBody>
      </p:sp>
      <p:sp>
        <p:nvSpPr>
          <p:cNvPr id="18" name="Rectangle 17"/>
          <p:cNvSpPr/>
          <p:nvPr/>
        </p:nvSpPr>
        <p:spPr>
          <a:xfrm>
            <a:off x="758952" y="50551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9682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Clear asks confirmation; sign-out removes notes.</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Responsive navigation</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WORKSPACE stays above the mobile menu</a:t>
            </a:r>
          </a:p>
          <a:p>
            <a:pPr>
              <a:lnSpc>
                <a:spcPts val="2100"/>
              </a:lnSpc>
              <a:spcAft>
                <a:spcPts val="0"/>
              </a:spcAft>
              <a:defRPr sz="1700" b="0">
                <a:solidFill>
                  <a:srgbClr val="1E3348"/>
                </a:solidFill>
                <a:latin typeface="Arial"/>
              </a:defRPr>
            </a:pPr>
            <a:r>
              <a:t>row.</a:t>
            </a:r>
          </a:p>
        </p:txBody>
      </p:sp>
      <p:sp>
        <p:nvSpPr>
          <p:cNvPr id="25" name="Rectangle 24"/>
          <p:cNvSpPr/>
          <p:nvPr/>
        </p:nvSpPr>
        <p:spPr>
          <a:xfrm>
            <a:off x="6391656" y="4026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Swipe menu items to reach allowed modules.</a:t>
            </a:r>
          </a:p>
        </p:txBody>
      </p:sp>
      <p:sp>
        <p:nvSpPr>
          <p:cNvPr id="27" name="Rectangle 26"/>
          <p:cNvSpPr/>
          <p:nvPr/>
        </p:nvSpPr>
        <p:spPr>
          <a:xfrm>
            <a:off x="6391656" y="4407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Wide registers scroll within panels.</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Notes becomes a constrained mobile drawer.</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Temporary Notes are not an audit trail, shared record or database backup.</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41</a:t>
            </a:r>
          </a:p>
        </p:txBody>
      </p:sp>
      <p:pic>
        <p:nvPicPr>
          <p:cNvPr id="35" name="Picture 34" descr="icon-notes.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42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TECHNICAL OVERVIEW</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Architecture and safe storage</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Understand the boundaries before operating or extending the system.</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Application stack</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React/TypeScript + Vite + TanStack Query.</a:t>
            </a:r>
          </a:p>
        </p:txBody>
      </p:sp>
      <p:sp>
        <p:nvSpPr>
          <p:cNvPr id="14" name="Rectangle 13"/>
          <p:cNvSpPr/>
          <p:nvPr/>
        </p:nvSpPr>
        <p:spPr>
          <a:xfrm>
            <a:off x="758952" y="37597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FastAPI + Pydantic + async SQLAlchemy.</a:t>
            </a:r>
          </a:p>
        </p:txBody>
      </p:sp>
      <p:sp>
        <p:nvSpPr>
          <p:cNvPr id="16" name="Rectangle 15"/>
          <p:cNvSpPr/>
          <p:nvPr/>
        </p:nvSpPr>
        <p:spPr>
          <a:xfrm>
            <a:off x="758952" y="4140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53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PostgreSQL business data, sessions and audit.</a:t>
            </a:r>
          </a:p>
        </p:txBody>
      </p:sp>
      <p:sp>
        <p:nvSpPr>
          <p:cNvPr id="18" name="Rectangle 17"/>
          <p:cNvSpPr/>
          <p:nvPr/>
        </p:nvSpPr>
        <p:spPr>
          <a:xfrm>
            <a:off x="758952" y="4521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434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Alembic manages changes to existing schemas.</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Data protection boundaries</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Passwords: salted one-way Argon2id hashes.</a:t>
            </a:r>
          </a:p>
        </p:txBody>
      </p:sp>
      <p:sp>
        <p:nvSpPr>
          <p:cNvPr id="25" name="Rectangle 24"/>
          <p:cNvSpPr/>
          <p:nvPr/>
        </p:nvSpPr>
        <p:spPr>
          <a:xfrm>
            <a:off x="6391656" y="37597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72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Sessions: opaque cookie and stored token</a:t>
            </a:r>
          </a:p>
          <a:p>
            <a:pPr>
              <a:lnSpc>
                <a:spcPts val="2100"/>
              </a:lnSpc>
              <a:spcAft>
                <a:spcPts val="0"/>
              </a:spcAft>
              <a:defRPr sz="1700" b="0">
                <a:solidFill>
                  <a:srgbClr val="1E3348"/>
                </a:solidFill>
                <a:latin typeface="Arial"/>
              </a:defRPr>
            </a:pPr>
            <a:r>
              <a:t>digest.</a:t>
            </a:r>
          </a:p>
        </p:txBody>
      </p:sp>
      <p:sp>
        <p:nvSpPr>
          <p:cNvPr id="27" name="Rectangle 26"/>
          <p:cNvSpPr/>
          <p:nvPr/>
        </p:nvSpPr>
        <p:spPr>
          <a:xfrm>
            <a:off x="6391656" y="4407407"/>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Original files: project data/uploads directory.</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HTTPS and storage encryption need deployment</a:t>
            </a:r>
          </a:p>
          <a:p>
            <a:pPr>
              <a:lnSpc>
                <a:spcPts val="2100"/>
              </a:lnSpc>
              <a:spcAft>
                <a:spcPts val="0"/>
              </a:spcAft>
              <a:defRPr sz="1700" b="0">
                <a:solidFill>
                  <a:srgbClr val="1E3348"/>
                </a:solidFill>
                <a:latin typeface="Arial"/>
              </a:defRPr>
            </a:pPr>
            <a:r>
              <a:t>setup.</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Password hashing does not encrypt database files, uploads or local HTTP traffic.</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42</a:t>
            </a:r>
          </a:p>
        </p:txBody>
      </p:sp>
      <p:pic>
        <p:nvPicPr>
          <p:cNvPr id="35" name="Picture 34" descr="icon-storage.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43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OPERATIONS</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First run, backup and support</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A working database and a recoverable installation matter as much as the UI.</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Start and preserve</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Use the OS launcher and the intended</a:t>
            </a:r>
          </a:p>
          <a:p>
            <a:pPr>
              <a:lnSpc>
                <a:spcPts val="2100"/>
              </a:lnSpc>
              <a:spcAft>
                <a:spcPts val="0"/>
              </a:spcAft>
              <a:defRPr sz="1700" b="0">
                <a:solidFill>
                  <a:srgbClr val="1E3348"/>
                </a:solidFill>
                <a:latin typeface="Arial"/>
              </a:defRPr>
            </a:pPr>
            <a:r>
              <a:t>PostgreSQL database.</a:t>
            </a:r>
          </a:p>
        </p:txBody>
      </p:sp>
      <p:sp>
        <p:nvSpPr>
          <p:cNvPr id="14" name="Rectangle 13"/>
          <p:cNvSpPr/>
          <p:nvPr/>
        </p:nvSpPr>
        <p:spPr>
          <a:xfrm>
            <a:off x="758952" y="4026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Apply migrations before using updated schemas.</a:t>
            </a:r>
          </a:p>
        </p:txBody>
      </p:sp>
      <p:sp>
        <p:nvSpPr>
          <p:cNvPr id="16" name="Rectangle 15"/>
          <p:cNvSpPr/>
          <p:nvPr/>
        </p:nvSpPr>
        <p:spPr>
          <a:xfrm>
            <a:off x="758952" y="4407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Back up PostgreSQL and uploads together.</a:t>
            </a:r>
          </a:p>
        </p:txBody>
      </p:sp>
      <p:sp>
        <p:nvSpPr>
          <p:cNvPr id="18" name="Rectangle 17"/>
          <p:cNvSpPr/>
          <p:nvPr/>
        </p:nvSpPr>
        <p:spPr>
          <a:xfrm>
            <a:off x="758952" y="4788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701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Test restoration in a separate environment.</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When something fails</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Check API readiness and the selected project first.</a:t>
            </a:r>
          </a:p>
        </p:txBody>
      </p:sp>
      <p:sp>
        <p:nvSpPr>
          <p:cNvPr id="25" name="Rectangle 24"/>
          <p:cNvSpPr/>
          <p:nvPr/>
        </p:nvSpPr>
        <p:spPr>
          <a:xfrm>
            <a:off x="6391656" y="37470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660140"/>
            <a:ext cx="4773168" cy="318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Review permission/action grants and record state.</a:t>
            </a:r>
          </a:p>
        </p:txBody>
      </p:sp>
      <p:sp>
        <p:nvSpPr>
          <p:cNvPr id="27" name="Rectangle 26"/>
          <p:cNvSpPr/>
          <p:nvPr/>
        </p:nvSpPr>
        <p:spPr>
          <a:xfrm>
            <a:off x="6391656" y="41153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0284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Refresh CSRF/session if expired; never bypass</a:t>
            </a:r>
          </a:p>
          <a:p>
            <a:pPr>
              <a:lnSpc>
                <a:spcPts val="2000"/>
              </a:lnSpc>
              <a:spcAft>
                <a:spcPts val="0"/>
              </a:spcAft>
              <a:defRPr sz="1600" b="0">
                <a:solidFill>
                  <a:srgbClr val="1E3348"/>
                </a:solidFill>
                <a:latin typeface="Arial"/>
              </a:defRPr>
            </a:pPr>
            <a:r>
              <a:t>checks.</a:t>
            </a:r>
          </a:p>
        </p:txBody>
      </p:sp>
      <p:sp>
        <p:nvSpPr>
          <p:cNvPr id="29" name="Rectangle 28"/>
          <p:cNvSpPr/>
          <p:nvPr/>
        </p:nvSpPr>
        <p:spPr>
          <a:xfrm>
            <a:off x="6391656" y="47376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650740"/>
            <a:ext cx="4773168" cy="572008"/>
          </a:xfrm>
          <a:prstGeom prst="rect">
            <a:avLst/>
          </a:prstGeom>
          <a:noFill/>
        </p:spPr>
        <p:txBody>
          <a:bodyPr wrap="square" lIns="9144" rIns="9144" tIns="18288" bIns="18288" anchor="t">
            <a:spAutoFit/>
          </a:bodyPr>
          <a:lstStyle/>
          <a:p>
            <a:pPr>
              <a:lnSpc>
                <a:spcPts val="2000"/>
              </a:lnSpc>
              <a:spcAft>
                <a:spcPts val="0"/>
              </a:spcAft>
              <a:defRPr sz="1600" b="0">
                <a:solidFill>
                  <a:srgbClr val="1E3348"/>
                </a:solidFill>
                <a:latin typeface="Arial"/>
              </a:defRPr>
            </a:pPr>
            <a:r>
              <a:t>Record time, action and request context for</a:t>
            </a:r>
          </a:p>
          <a:p>
            <a:pPr>
              <a:lnSpc>
                <a:spcPts val="2000"/>
              </a:lnSpc>
              <a:spcAft>
                <a:spcPts val="0"/>
              </a:spcAft>
              <a:defRPr sz="1600" b="0">
                <a:solidFill>
                  <a:srgbClr val="1E3348"/>
                </a:solidFill>
                <a:latin typeface="Arial"/>
              </a:defRPr>
            </a:pPr>
            <a:r>
              <a:t>support.</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A Docker volume is persistence, not an independent backup.</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43</a:t>
            </a:r>
          </a:p>
        </p:txBody>
      </p:sp>
      <p:pic>
        <p:nvPicPr>
          <p:cNvPr id="35" name="Picture 34" descr="icon-cashflow.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9144" rIns="9144" tIns="18288" bIns="18288" anchor="t">
            <a:spAutoFit/>
          </a:bodyPr>
          <a:lstStyle/>
          <a:p>
            <a:pPr>
              <a:spcAft>
                <a:spcPts val="200"/>
              </a:spcAft>
              <a:defRPr sz="1100" b="1">
                <a:solidFill>
                  <a:srgbClr val="FFFFFF"/>
                </a:solidFill>
                <a:latin typeface="Arial"/>
              </a:defRPr>
            </a:pPr>
            <a:r>
              <a:t>VRIDHI  /  CONSTRUCTIONS &amp; DESIGNS</a:t>
            </a:r>
          </a:p>
        </p:txBody>
      </p:sp>
      <p:sp>
        <p:nvSpPr>
          <p:cNvPr id="5" name="TextBox 4"/>
          <p:cNvSpPr txBox="1"/>
          <p:nvPr/>
        </p:nvSpPr>
        <p:spPr>
          <a:xfrm>
            <a:off x="9189720" y="228600"/>
            <a:ext cx="2423160" cy="256032"/>
          </a:xfrm>
          <a:prstGeom prst="rect">
            <a:avLst/>
          </a:prstGeom>
          <a:noFill/>
        </p:spPr>
        <p:txBody>
          <a:bodyPr wrap="square" lIns="9144" rIns="9144" tIns="18288" bIns="18288" anchor="t">
            <a:spAutoFit/>
          </a:bodyPr>
          <a:lstStyle/>
          <a:p>
            <a:pPr>
              <a:spcAft>
                <a:spcPts val="200"/>
              </a:spcAft>
              <a:defRPr sz="1000" b="0">
                <a:solidFill>
                  <a:srgbClr val="FFFFFF"/>
                </a:solidFill>
                <a:latin typeface="Arial"/>
              </a:defRPr>
            </a:pPr>
            <a:r>
              <a:t>44 / 44    |    USER TRAINING</a:t>
            </a:r>
          </a:p>
        </p:txBody>
      </p:sp>
      <p:sp>
        <p:nvSpPr>
          <p:cNvPr id="6" name="TextBox 5"/>
          <p:cNvSpPr txBox="1"/>
          <p:nvPr/>
        </p:nvSpPr>
        <p:spPr>
          <a:xfrm>
            <a:off x="530352" y="804672"/>
            <a:ext cx="10332720" cy="256032"/>
          </a:xfrm>
          <a:prstGeom prst="rect">
            <a:avLst/>
          </a:prstGeom>
          <a:noFill/>
        </p:spPr>
        <p:txBody>
          <a:bodyPr wrap="square" lIns="9144" rIns="9144" tIns="18288" bIns="18288" anchor="t">
            <a:spAutoFit/>
          </a:bodyPr>
          <a:lstStyle/>
          <a:p>
            <a:pPr>
              <a:spcAft>
                <a:spcPts val="200"/>
              </a:spcAft>
              <a:defRPr sz="1100" b="1">
                <a:solidFill>
                  <a:srgbClr val="087F8C"/>
                </a:solidFill>
                <a:latin typeface="Arial"/>
              </a:defRPr>
            </a:pPr>
            <a:r>
              <a:t>WRAP-UP</a:t>
            </a:r>
          </a:p>
        </p:txBody>
      </p:sp>
      <p:sp>
        <p:nvSpPr>
          <p:cNvPr id="7" name="TextBox 6"/>
          <p:cNvSpPr txBox="1"/>
          <p:nvPr/>
        </p:nvSpPr>
        <p:spPr>
          <a:xfrm>
            <a:off x="530352" y="1124712"/>
            <a:ext cx="10104120" cy="566928"/>
          </a:xfrm>
          <a:prstGeom prst="rect">
            <a:avLst/>
          </a:prstGeom>
          <a:noFill/>
        </p:spPr>
        <p:txBody>
          <a:bodyPr wrap="square" lIns="9144" rIns="9144" tIns="18288" bIns="18288" anchor="t">
            <a:spAutoFit/>
          </a:bodyPr>
          <a:lstStyle/>
          <a:p>
            <a:pPr>
              <a:spcAft>
                <a:spcPts val="200"/>
              </a:spcAft>
              <a:defRPr sz="3200" b="1">
                <a:solidFill>
                  <a:srgbClr val="10283F"/>
                </a:solidFill>
                <a:latin typeface="Arial"/>
              </a:defRPr>
            </a:pPr>
            <a:r>
              <a:t>Practice checklist and next steps</a:t>
            </a:r>
          </a:p>
        </p:txBody>
      </p:sp>
      <p:sp>
        <p:nvSpPr>
          <p:cNvPr id="8" name="TextBox 7"/>
          <p:cNvSpPr txBox="1"/>
          <p:nvPr/>
        </p:nvSpPr>
        <p:spPr>
          <a:xfrm>
            <a:off x="530352" y="1810512"/>
            <a:ext cx="11018520" cy="566928"/>
          </a:xfrm>
          <a:prstGeom prst="rect">
            <a:avLst/>
          </a:prstGeom>
          <a:noFill/>
        </p:spPr>
        <p:txBody>
          <a:bodyPr wrap="square" lIns="9144" rIns="9144" tIns="18288" bIns="18288" anchor="t">
            <a:spAutoFit/>
          </a:bodyPr>
          <a:lstStyle/>
          <a:p>
            <a:pPr>
              <a:spcAft>
                <a:spcPts val="200"/>
              </a:spcAft>
              <a:defRPr sz="1800" b="0">
                <a:solidFill>
                  <a:srgbClr val="526579"/>
                </a:solidFill>
                <a:latin typeface="Arial"/>
              </a:defRPr>
            </a:pPr>
            <a:r>
              <a:t>Use a training database, not live project records.</a:t>
            </a:r>
          </a:p>
        </p:txBody>
      </p:sp>
      <p:sp>
        <p:nvSpPr>
          <p:cNvPr id="9" name="Rounded Rectangle 8"/>
          <p:cNvSpPr/>
          <p:nvPr/>
        </p:nvSpPr>
        <p:spPr>
          <a:xfrm>
            <a:off x="530352"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2606040"/>
            <a:ext cx="50292" cy="2971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Practice the complete loop</a:t>
            </a:r>
          </a:p>
        </p:txBody>
      </p:sp>
      <p:sp>
        <p:nvSpPr>
          <p:cNvPr id="12" name="Rectangle 11"/>
          <p:cNvSpPr/>
          <p:nvPr/>
        </p:nvSpPr>
        <p:spPr>
          <a:xfrm>
            <a:off x="758952" y="3378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291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Create project -&gt; update status with comment.</a:t>
            </a:r>
          </a:p>
        </p:txBody>
      </p:sp>
      <p:sp>
        <p:nvSpPr>
          <p:cNvPr id="14" name="Rectangle 13"/>
          <p:cNvSpPr/>
          <p:nvPr/>
        </p:nvSpPr>
        <p:spPr>
          <a:xfrm>
            <a:off x="758952" y="3759707"/>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6728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Create PO -&gt; receive stock -&gt; record use.</a:t>
            </a:r>
          </a:p>
        </p:txBody>
      </p:sp>
      <p:sp>
        <p:nvSpPr>
          <p:cNvPr id="16" name="Rectangle 15"/>
          <p:cNvSpPr/>
          <p:nvPr/>
        </p:nvSpPr>
        <p:spPr>
          <a:xfrm>
            <a:off x="758952" y="41407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53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Record billing/receipt and direct work or contract</a:t>
            </a:r>
          </a:p>
          <a:p>
            <a:pPr>
              <a:lnSpc>
                <a:spcPts val="2100"/>
              </a:lnSpc>
              <a:spcAft>
                <a:spcPts val="0"/>
              </a:spcAft>
              <a:defRPr sz="1700" b="0">
                <a:solidFill>
                  <a:srgbClr val="1E3348"/>
                </a:solidFill>
                <a:latin typeface="Arial"/>
              </a:defRPr>
            </a:pPr>
            <a:r>
              <a:t>claim.</a:t>
            </a:r>
          </a:p>
        </p:txBody>
      </p:sp>
      <p:sp>
        <p:nvSpPr>
          <p:cNvPr id="18" name="Rectangle 17"/>
          <p:cNvSpPr/>
          <p:nvPr/>
        </p:nvSpPr>
        <p:spPr>
          <a:xfrm>
            <a:off x="758952" y="4788408"/>
            <a:ext cx="5029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701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Review Audit Log and save one PDF report.</a:t>
            </a:r>
          </a:p>
        </p:txBody>
      </p:sp>
      <p:sp>
        <p:nvSpPr>
          <p:cNvPr id="20" name="Rounded Rectangle 19"/>
          <p:cNvSpPr/>
          <p:nvPr/>
        </p:nvSpPr>
        <p:spPr>
          <a:xfrm>
            <a:off x="6163056" y="2606040"/>
            <a:ext cx="5486400" cy="2971800"/>
          </a:xfrm>
          <a:prstGeom prst="roundRect">
            <a:avLst>
              <a:gd name="adj" fmla="val 8000"/>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06040"/>
            <a:ext cx="50292"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788920"/>
            <a:ext cx="5029200" cy="393192"/>
          </a:xfrm>
          <a:prstGeom prst="rect">
            <a:avLst/>
          </a:prstGeom>
          <a:noFill/>
        </p:spPr>
        <p:txBody>
          <a:bodyPr wrap="square" lIns="9144" rIns="9144" tIns="18288" bIns="18288" anchor="t">
            <a:spAutoFit/>
          </a:bodyPr>
          <a:lstStyle/>
          <a:p>
            <a:pPr>
              <a:spcAft>
                <a:spcPts val="200"/>
              </a:spcAft>
              <a:defRPr sz="2000" b="1">
                <a:solidFill>
                  <a:srgbClr val="10283F"/>
                </a:solidFill>
                <a:latin typeface="Arial"/>
              </a:defRPr>
            </a:pPr>
            <a:r>
              <a:t>Know where to look next</a:t>
            </a:r>
          </a:p>
        </p:txBody>
      </p:sp>
      <p:sp>
        <p:nvSpPr>
          <p:cNvPr id="23" name="Rectangle 22"/>
          <p:cNvSpPr/>
          <p:nvPr/>
        </p:nvSpPr>
        <p:spPr>
          <a:xfrm>
            <a:off x="6391656" y="33787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918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01 Getting started / 02 Module guide / 03</a:t>
            </a:r>
          </a:p>
          <a:p>
            <a:pPr>
              <a:lnSpc>
                <a:spcPts val="2100"/>
              </a:lnSpc>
              <a:spcAft>
                <a:spcPts val="0"/>
              </a:spcAft>
              <a:defRPr sz="1700" b="0">
                <a:solidFill>
                  <a:srgbClr val="1E3348"/>
                </a:solidFill>
                <a:latin typeface="Arial"/>
              </a:defRPr>
            </a:pPr>
            <a:r>
              <a:t>Workflows.</a:t>
            </a:r>
          </a:p>
        </p:txBody>
      </p:sp>
      <p:sp>
        <p:nvSpPr>
          <p:cNvPr id="25" name="Rectangle 24"/>
          <p:cNvSpPr/>
          <p:nvPr/>
        </p:nvSpPr>
        <p:spPr>
          <a:xfrm>
            <a:off x="6391656" y="4026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939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04 Permissions / 05 Reports and calculations.</a:t>
            </a:r>
          </a:p>
        </p:txBody>
      </p:sp>
      <p:sp>
        <p:nvSpPr>
          <p:cNvPr id="27" name="Rectangle 26"/>
          <p:cNvSpPr/>
          <p:nvPr/>
        </p:nvSpPr>
        <p:spPr>
          <a:xfrm>
            <a:off x="6391656" y="4407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320540"/>
            <a:ext cx="4773168" cy="3307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06 Architecture / 07 Data / 08 Operations.</a:t>
            </a:r>
          </a:p>
        </p:txBody>
      </p:sp>
      <p:sp>
        <p:nvSpPr>
          <p:cNvPr id="29" name="Rectangle 28"/>
          <p:cNvSpPr/>
          <p:nvPr/>
        </p:nvSpPr>
        <p:spPr>
          <a:xfrm>
            <a:off x="6391656" y="4788408"/>
            <a:ext cx="502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4701540"/>
            <a:ext cx="4773168" cy="597408"/>
          </a:xfrm>
          <a:prstGeom prst="rect">
            <a:avLst/>
          </a:prstGeom>
          <a:noFill/>
        </p:spPr>
        <p:txBody>
          <a:bodyPr wrap="square" lIns="9144" rIns="9144" tIns="18288" bIns="18288" anchor="t">
            <a:spAutoFit/>
          </a:bodyPr>
          <a:lstStyle/>
          <a:p>
            <a:pPr>
              <a:lnSpc>
                <a:spcPts val="2100"/>
              </a:lnSpc>
              <a:spcAft>
                <a:spcPts val="0"/>
              </a:spcAft>
              <a:defRPr sz="1700" b="0">
                <a:solidFill>
                  <a:srgbClr val="1E3348"/>
                </a:solidFill>
                <a:latin typeface="Arial"/>
              </a:defRPr>
            </a:pPr>
            <a:r>
              <a:t>09 Evidence and acceptance / 10 Presenter</a:t>
            </a:r>
          </a:p>
          <a:p>
            <a:pPr>
              <a:lnSpc>
                <a:spcPts val="2100"/>
              </a:lnSpc>
              <a:spcAft>
                <a:spcPts val="0"/>
              </a:spcAft>
              <a:defRPr sz="1700" b="0">
                <a:solidFill>
                  <a:srgbClr val="1E3348"/>
                </a:solidFill>
                <a:latin typeface="Arial"/>
              </a:defRPr>
            </a:pPr>
            <a:r>
              <a:t>guide.</a:t>
            </a:r>
          </a:p>
        </p:txBody>
      </p:sp>
      <p:sp>
        <p:nvSpPr>
          <p:cNvPr id="31" name="Rounded Rectangle 30"/>
          <p:cNvSpPr/>
          <p:nvPr/>
        </p:nvSpPr>
        <p:spPr>
          <a:xfrm>
            <a:off x="530352" y="5797296"/>
            <a:ext cx="11119104" cy="521207"/>
          </a:xfrm>
          <a:prstGeom prst="roundRect">
            <a:avLst>
              <a:gd name="adj" fmla="val 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897880"/>
            <a:ext cx="10716768" cy="338328"/>
          </a:xfrm>
          <a:prstGeom prst="rect">
            <a:avLst/>
          </a:prstGeom>
          <a:noFill/>
        </p:spPr>
        <p:txBody>
          <a:bodyPr wrap="square" lIns="9144" rIns="9144" tIns="18288" bIns="18288" anchor="t">
            <a:spAutoFit/>
          </a:bodyPr>
          <a:lstStyle/>
          <a:p>
            <a:pPr>
              <a:spcAft>
                <a:spcPts val="200"/>
              </a:spcAft>
              <a:defRPr sz="1400" b="1">
                <a:solidFill>
                  <a:srgbClr val="2563EB"/>
                </a:solidFill>
                <a:latin typeface="Arial"/>
              </a:defRPr>
            </a:pPr>
            <a:r>
              <a:t>This source-reviewed guide explains current behavior; validate your operational release.</a:t>
            </a:r>
          </a:p>
        </p:txBody>
      </p:sp>
      <p:sp>
        <p:nvSpPr>
          <p:cNvPr id="33" name="TextBox 32"/>
          <p:cNvSpPr txBox="1"/>
          <p:nvPr/>
        </p:nvSpPr>
        <p:spPr>
          <a:xfrm>
            <a:off x="530352" y="6501384"/>
            <a:ext cx="10241280" cy="201168"/>
          </a:xfrm>
          <a:prstGeom prst="rect">
            <a:avLst/>
          </a:prstGeom>
          <a:noFill/>
        </p:spPr>
        <p:txBody>
          <a:bodyPr wrap="square" lIns="9144" rIns="9144" tIns="18288" bIns="18288" anchor="t">
            <a:spAutoFit/>
          </a:bodyPr>
          <a:lstStyle/>
          <a:p>
            <a:pPr>
              <a:spcAft>
                <a:spcPts val="200"/>
              </a:spcAft>
              <a:defRPr sz="900" b="0">
                <a:solidFill>
                  <a:srgbClr val="526579"/>
                </a:solidFill>
                <a:latin typeface="Arial"/>
              </a:defRPr>
            </a:pPr>
            <a:r>
              <a:t>CURRENT SYSTEM  |  16 OCT 2026  |  Companion guide: docs/current_system_docs</a:t>
            </a:r>
          </a:p>
        </p:txBody>
      </p:sp>
      <p:sp>
        <p:nvSpPr>
          <p:cNvPr id="34" name="TextBox 33"/>
          <p:cNvSpPr txBox="1"/>
          <p:nvPr/>
        </p:nvSpPr>
        <p:spPr>
          <a:xfrm>
            <a:off x="10881360" y="6473952"/>
            <a:ext cx="731520" cy="246888"/>
          </a:xfrm>
          <a:prstGeom prst="rect">
            <a:avLst/>
          </a:prstGeom>
          <a:noFill/>
        </p:spPr>
        <p:txBody>
          <a:bodyPr wrap="square" lIns="9144" rIns="9144" tIns="18288" bIns="18288" anchor="t">
            <a:spAutoFit/>
          </a:bodyPr>
          <a:lstStyle/>
          <a:p>
            <a:pPr>
              <a:spcAft>
                <a:spcPts val="200"/>
              </a:spcAft>
              <a:defRPr sz="1100" b="1">
                <a:solidFill>
                  <a:srgbClr val="526579"/>
                </a:solidFill>
                <a:latin typeface="Arial"/>
              </a:defRPr>
            </a:pPr>
            <a:r>
              <a:t>44</a:t>
            </a:r>
          </a:p>
        </p:txBody>
      </p:sp>
      <p:pic>
        <p:nvPicPr>
          <p:cNvPr id="35" name="Picture 34" descr="icon-cashflow.png"/>
          <p:cNvPicPr>
            <a:picLocks noChangeAspect="1"/>
          </p:cNvPicPr>
          <p:nvPr/>
        </p:nvPicPr>
        <p:blipFill>
          <a:blip r:embed="rId3"/>
          <a:stretch>
            <a:fillRect/>
          </a:stretch>
        </p:blipFill>
        <p:spPr>
          <a:xfrm>
            <a:off x="10972800" y="1078992"/>
            <a:ext cx="576072" cy="57607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overview.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Workspace: find your controls</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705544" y="1993392"/>
            <a:ext cx="7559175"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Left</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The selected project and permitted menus.</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Top</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Theme, Notes, My Details and Sign out.</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Main area</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Project context, actions and current data.</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05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projects.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Projects: portfolio screen</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705544" y="1993392"/>
            <a:ext cx="7559175"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Status groups</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Planning, Active, On Hold and completed work.</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Project cards</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Name, location, value and recorded cost.</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New project</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Starts the setup form, subject to authorization.</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07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overview.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Overview: dashboard screen</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705544" y="1993392"/>
            <a:ext cx="7559175"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KPIs</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Contract, client receipts, cost and margin.</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Charts</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Financial position and recorded cost mix.</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Actions</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Status, export and Quick Entry depend on permission.</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09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procurement.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Procurement: register screen</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705544" y="1993392"/>
            <a:ext cx="7559175"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Totals</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Ordered, paid and outstanding vendor amounts.</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Register</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Search and payment filters above PO rows.</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Row icons</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Edit, payment and history follow grants and record state.</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11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inventory.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Inventory: material register</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705544" y="1993392"/>
            <a:ext cx="7559175"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Stock</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Ordered, received, used and available quantities.</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Actions</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Receive Stock and Stock ledger in the header.</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Verify</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Check units and source references before saving.</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13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cashflow.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Cash flow: client money screen</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705544" y="1993392"/>
            <a:ext cx="7559175"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Client totals</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Contract, billed, received and outstanding.</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Applications</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Client billing entries and allocated receipts.</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Actions</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New application and Record receipt are separate grants.</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15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labor.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Labor and Wages: contracts and workers</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705544" y="1993392"/>
            <a:ext cx="7559175"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Two paths</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Direct workers and subcontract agreements.</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Review</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Claims and contract changes have review states.</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History</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Expand sections and inspect files, work and payments.</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17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users.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Users: directory and action icons</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705544" y="1993392"/>
            <a:ext cx="7559175"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Directory</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All users, not just the selected project's members.</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Icons</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View, Edit, Reset, Status, Delete and History.</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Authorization</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Only granted actions are available.</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19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procurement.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Audit Log: project activity table</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705544" y="1993392"/>
            <a:ext cx="7559175"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Newest first</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Actor, timestamp, activity and affected record.</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Tools</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Time range, clear filters and text search.</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Export</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All matching project records, not only this page.</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21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cashflow.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New Project: actual form</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2703508" y="1993392"/>
            <a:ext cx="3563247"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Identity</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Enter project name and location.</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Baseline</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Budget, contract value, date and initial status.</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Optional file</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Choose, paste or drop an initial plan document.</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23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cashflow.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Project status: actual dialog</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2320671" y="1993392"/>
            <a:ext cx="4328922"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Current state</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Shown before selecting the next status.</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Comment</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Explain the business reason for the change.</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Conditional</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Hold reason or completion confirmation may be required.</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25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documents.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Plan documents: history and download</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1353758" y="1993392"/>
            <a:ext cx="6262747"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File metadata</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Filename, uploader, time and comments.</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Download</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Icon retrieves the original file.</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Value history</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Revised plans can change the recorded estimate.</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27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users.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User wizard: account details</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2809420" y="1993392"/>
            <a:ext cx="3351423"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Required</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Name, unique username and matching password.</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Optional</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Work email and contact number.</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Next</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Continue to access settings; do not save this sample.</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31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permissions.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User wizard: access settings</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3005158" y="1993392"/>
            <a:ext cx="2959946"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Project scope</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Global, shared selected, or individual profiles.</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Assigned projects</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Checkboxes include lifecycle status.</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Separate sections</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Audit Log and Users page permissions.</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33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filter.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Audit filter: date range and time</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2995466" y="1993392"/>
            <a:ext cx="2979331"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Shortcuts</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Today, Yesterday, Last 7 days and This month.</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Range</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Select dates, then From and To times.</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Apply</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Commits the draft range to search and export.</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
            <a:ext cx="12191999" cy="484632"/>
          </a:xfrm>
          <a:prstGeom prst="rect">
            <a:avLst/>
          </a:prstGeom>
          <a:solidFill>
            <a:srgbClr val="10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8046720" cy="256032"/>
          </a:xfrm>
          <a:prstGeom prst="rect">
            <a:avLst/>
          </a:prstGeom>
          <a:noFill/>
        </p:spPr>
        <p:txBody>
          <a:bodyPr wrap="square" lIns="18288" rIns="18288" tIns="18288" bIns="18288">
            <a:spAutoFit/>
          </a:bodyPr>
          <a:lstStyle/>
          <a:p>
            <a:pPr>
              <a:defRPr sz="1100" b="1">
                <a:solidFill>
                  <a:srgbClr val="FFFFFF"/>
                </a:solidFill>
                <a:latin typeface="Arial"/>
              </a:defRPr>
            </a:pPr>
            <a:r>
              <a:t>VRIDHI  /  VISUAL WALKTHROUGH</a:t>
            </a:r>
          </a:p>
        </p:txBody>
      </p:sp>
      <p:pic>
        <p:nvPicPr>
          <p:cNvPr id="5" name="Picture 4" descr="icon-export.png"/>
          <p:cNvPicPr>
            <a:picLocks noChangeAspect="1"/>
          </p:cNvPicPr>
          <p:nvPr/>
        </p:nvPicPr>
        <p:blipFill>
          <a:blip r:embed="rId2"/>
          <a:stretch>
            <a:fillRect/>
          </a:stretch>
        </p:blipFill>
        <p:spPr>
          <a:xfrm>
            <a:off x="530352" y="804672"/>
            <a:ext cx="438912" cy="438912"/>
          </a:xfrm>
          <a:prstGeom prst="rect">
            <a:avLst/>
          </a:prstGeom>
        </p:spPr>
      </p:pic>
      <p:sp>
        <p:nvSpPr>
          <p:cNvPr id="6" name="TextBox 5"/>
          <p:cNvSpPr txBox="1"/>
          <p:nvPr/>
        </p:nvSpPr>
        <p:spPr>
          <a:xfrm>
            <a:off x="1097280" y="832104"/>
            <a:ext cx="10424160" cy="502920"/>
          </a:xfrm>
          <a:prstGeom prst="rect">
            <a:avLst/>
          </a:prstGeom>
          <a:noFill/>
        </p:spPr>
        <p:txBody>
          <a:bodyPr wrap="square" lIns="18288" rIns="18288" tIns="18288" bIns="18288">
            <a:spAutoFit/>
          </a:bodyPr>
          <a:lstStyle/>
          <a:p>
            <a:pPr>
              <a:defRPr sz="2700" b="1">
                <a:solidFill>
                  <a:srgbClr val="10283F"/>
                </a:solidFill>
                <a:latin typeface="Arial"/>
              </a:defRPr>
            </a:pPr>
            <a:r>
              <a:t>Export: sample printable report</a:t>
            </a:r>
          </a:p>
        </p:txBody>
      </p:sp>
      <p:sp>
        <p:nvSpPr>
          <p:cNvPr id="7" name="TextBox 6"/>
          <p:cNvSpPr txBox="1"/>
          <p:nvPr/>
        </p:nvSpPr>
        <p:spPr>
          <a:xfrm>
            <a:off x="530352" y="1435608"/>
            <a:ext cx="11064240" cy="292608"/>
          </a:xfrm>
          <a:prstGeom prst="rect">
            <a:avLst/>
          </a:prstGeom>
          <a:noFill/>
        </p:spPr>
        <p:txBody>
          <a:bodyPr wrap="square" lIns="18288" rIns="18288" tIns="18288" bIns="18288">
            <a:spAutoFit/>
          </a:bodyPr>
          <a:lstStyle/>
          <a:p>
            <a:pPr>
              <a:defRPr sz="1300" b="0">
                <a:solidFill>
                  <a:srgbClr val="526579"/>
                </a:solidFill>
                <a:latin typeface="Arial"/>
              </a:defRPr>
            </a:pPr>
            <a:r>
              <a:t>Actual application interface | Synthetic sample data | No live records</a:t>
            </a:r>
          </a:p>
        </p:txBody>
      </p:sp>
      <p:sp>
        <p:nvSpPr>
          <p:cNvPr id="8" name="Rectangle 7"/>
          <p:cNvSpPr/>
          <p:nvPr/>
        </p:nvSpPr>
        <p:spPr>
          <a:xfrm>
            <a:off x="530352" y="1892807"/>
            <a:ext cx="7909560"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99516" y="1993392"/>
            <a:ext cx="7571231" cy="3995928"/>
          </a:xfrm>
          <a:prstGeom prst="rect">
            <a:avLst/>
          </a:prstGeom>
        </p:spPr>
      </p:pic>
      <p:sp>
        <p:nvSpPr>
          <p:cNvPr id="10" name="Rectangle 9"/>
          <p:cNvSpPr/>
          <p:nvPr/>
        </p:nvSpPr>
        <p:spPr>
          <a:xfrm>
            <a:off x="8668512" y="1892807"/>
            <a:ext cx="2990088" cy="4215384"/>
          </a:xfrm>
          <a:prstGeom prst="rect">
            <a:avLst/>
          </a:prstGeom>
          <a:solidFill>
            <a:srgbClr val="FFFFFF"/>
          </a:solidFill>
          <a:ln>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066543"/>
            <a:ext cx="2615184" cy="329184"/>
          </a:xfrm>
          <a:prstGeom prst="rect">
            <a:avLst/>
          </a:prstGeom>
          <a:noFill/>
        </p:spPr>
        <p:txBody>
          <a:bodyPr wrap="square" lIns="18288" rIns="18288" tIns="18288" bIns="18288">
            <a:spAutoFit/>
          </a:bodyPr>
          <a:lstStyle/>
          <a:p>
            <a:pPr>
              <a:defRPr sz="1200" b="1">
                <a:solidFill>
                  <a:srgbClr val="087F8C"/>
                </a:solidFill>
                <a:latin typeface="Arial"/>
              </a:defRPr>
            </a:pPr>
            <a:r>
              <a:t>WHAT TO NOTICE</a:t>
            </a:r>
          </a:p>
        </p:txBody>
      </p:sp>
      <p:sp>
        <p:nvSpPr>
          <p:cNvPr id="12" name="TextBox 11"/>
          <p:cNvSpPr txBox="1"/>
          <p:nvPr/>
        </p:nvSpPr>
        <p:spPr>
          <a:xfrm>
            <a:off x="8860536" y="2679192"/>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Header</a:t>
            </a:r>
          </a:p>
        </p:txBody>
      </p:sp>
      <p:sp>
        <p:nvSpPr>
          <p:cNvPr id="13" name="TextBox 12"/>
          <p:cNvSpPr txBox="1"/>
          <p:nvPr/>
        </p:nvSpPr>
        <p:spPr>
          <a:xfrm>
            <a:off x="8860536" y="3035808"/>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Company logo/name, report, project and export date.</a:t>
            </a:r>
          </a:p>
        </p:txBody>
      </p:sp>
      <p:sp>
        <p:nvSpPr>
          <p:cNvPr id="14" name="TextBox 13"/>
          <p:cNvSpPr txBox="1"/>
          <p:nvPr/>
        </p:nvSpPr>
        <p:spPr>
          <a:xfrm>
            <a:off x="8860536" y="3703320"/>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Day palette</a:t>
            </a:r>
          </a:p>
        </p:txBody>
      </p:sp>
      <p:sp>
        <p:nvSpPr>
          <p:cNvPr id="15" name="TextBox 14"/>
          <p:cNvSpPr txBox="1"/>
          <p:nvPr/>
        </p:nvSpPr>
        <p:spPr>
          <a:xfrm>
            <a:off x="8860536" y="4059936"/>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White surfaces, even from Dark screen mode.</a:t>
            </a:r>
          </a:p>
        </p:txBody>
      </p:sp>
      <p:sp>
        <p:nvSpPr>
          <p:cNvPr id="16" name="TextBox 15"/>
          <p:cNvSpPr txBox="1"/>
          <p:nvPr/>
        </p:nvSpPr>
        <p:spPr>
          <a:xfrm>
            <a:off x="8860536" y="4727448"/>
            <a:ext cx="2596896" cy="310896"/>
          </a:xfrm>
          <a:prstGeom prst="rect">
            <a:avLst/>
          </a:prstGeom>
          <a:noFill/>
        </p:spPr>
        <p:txBody>
          <a:bodyPr wrap="square" lIns="18288" rIns="18288" tIns="18288" bIns="18288">
            <a:spAutoFit/>
          </a:bodyPr>
          <a:lstStyle/>
          <a:p>
            <a:pPr>
              <a:defRPr sz="1700" b="1">
                <a:solidFill>
                  <a:srgbClr val="10283F"/>
                </a:solidFill>
                <a:latin typeface="Arial"/>
              </a:defRPr>
            </a:pPr>
            <a:r>
              <a:t>Save</a:t>
            </a:r>
          </a:p>
        </p:txBody>
      </p:sp>
      <p:sp>
        <p:nvSpPr>
          <p:cNvPr id="17" name="TextBox 16"/>
          <p:cNvSpPr txBox="1"/>
          <p:nvPr/>
        </p:nvSpPr>
        <p:spPr>
          <a:xfrm>
            <a:off x="8860536" y="5084064"/>
            <a:ext cx="2596896" cy="585216"/>
          </a:xfrm>
          <a:prstGeom prst="rect">
            <a:avLst/>
          </a:prstGeom>
          <a:noFill/>
        </p:spPr>
        <p:txBody>
          <a:bodyPr wrap="square" lIns="18288" rIns="18288" tIns="18288" bIns="18288">
            <a:spAutoFit/>
          </a:bodyPr>
          <a:lstStyle/>
          <a:p>
            <a:pPr>
              <a:defRPr sz="1400" b="0">
                <a:solidFill>
                  <a:srgbClr val="526579"/>
                </a:solidFill>
                <a:latin typeface="Arial"/>
              </a:defRPr>
            </a:pPr>
            <a:r>
              <a:t>Browser Print &gt; Save as PDF; check preview coverage.</a:t>
            </a:r>
          </a:p>
        </p:txBody>
      </p:sp>
      <p:sp>
        <p:nvSpPr>
          <p:cNvPr id="18" name="TextBox 17"/>
          <p:cNvSpPr txBox="1"/>
          <p:nvPr/>
        </p:nvSpPr>
        <p:spPr>
          <a:xfrm>
            <a:off x="530352" y="6291072"/>
            <a:ext cx="11091672" cy="274320"/>
          </a:xfrm>
          <a:prstGeom prst="rect">
            <a:avLst/>
          </a:prstGeom>
          <a:noFill/>
        </p:spPr>
        <p:txBody>
          <a:bodyPr wrap="square" lIns="18288" rIns="18288" tIns="18288" bIns="18288">
            <a:spAutoFit/>
          </a:bodyPr>
          <a:lstStyle/>
          <a:p>
            <a:pPr>
              <a:defRPr sz="1100" b="1">
                <a:solidFill>
                  <a:srgbClr val="2563EB"/>
                </a:solidFill>
                <a:latin typeface="Arial"/>
              </a:defRPr>
            </a:pPr>
            <a:r>
              <a:t>SCREENSHOT SAMPLE - illustrated training data only; actual records and available actions vary by permission.</a:t>
            </a:r>
          </a:p>
        </p:txBody>
      </p:sp>
      <p:sp>
        <p:nvSpPr>
          <p:cNvPr id="19" name="TextBox 18"/>
          <p:cNvSpPr txBox="1"/>
          <p:nvPr/>
        </p:nvSpPr>
        <p:spPr>
          <a:xfrm>
            <a:off x="530352" y="6611112"/>
            <a:ext cx="10698480" cy="182880"/>
          </a:xfrm>
          <a:prstGeom prst="rect">
            <a:avLst/>
          </a:prstGeom>
          <a:noFill/>
        </p:spPr>
        <p:txBody>
          <a:bodyPr wrap="square" lIns="18288" rIns="18288" tIns="18288" bIns="18288">
            <a:spAutoFit/>
          </a:bodyPr>
          <a:lstStyle/>
          <a:p>
            <a:pPr>
              <a:defRPr sz="900" b="0">
                <a:solidFill>
                  <a:srgbClr val="526579"/>
                </a:solidFill>
                <a:latin typeface="Arial"/>
              </a:defRPr>
            </a:pPr>
            <a:r>
              <a:t>CURRENT SYSTEM  |  16 OCT 2026  |  Companion guide: docs/current_system_docs</a:t>
            </a:r>
          </a:p>
        </p:txBody>
      </p:sp>
      <p:sp>
        <p:nvSpPr>
          <p:cNvPr id="20" name="TextBox 19"/>
          <p:cNvSpPr txBox="1"/>
          <p:nvPr/>
        </p:nvSpPr>
        <p:spPr>
          <a:xfrm>
            <a:off x="10972800" y="6583680"/>
            <a:ext cx="594360" cy="237744"/>
          </a:xfrm>
          <a:prstGeom prst="rect">
            <a:avLst/>
          </a:prstGeom>
          <a:noFill/>
        </p:spPr>
        <p:txBody>
          <a:bodyPr wrap="square" lIns="18288" rIns="18288" tIns="18288" bIns="18288">
            <a:spAutoFit/>
          </a:bodyPr>
          <a:lstStyle/>
          <a:p>
            <a:pPr>
              <a:defRPr sz="1100" b="1">
                <a:solidFill>
                  <a:srgbClr val="526579"/>
                </a:solidFill>
                <a:latin typeface="Arial"/>
              </a:defRPr>
            </a:pPr>
            <a:r>
              <a:t>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Vridhi - Illustrated System Training</dc:title>
  <dc:subject>Implemented modules, workflows, permissions, reports and operations</dc:subject>
  <dc:creator>Vridhi Constructions &amp; Designs</dc:creator>
  <cp:keywords>construction ERP, onboarding, user guide, permissions, audit, PDF reports</cp:keywords>
  <dc:description>Actual frontend screenshots with synthetic training data; no live records. Illustrated edition, 16 October 2026.</dc:description>
  <cp:lastModifiedBy>Steve Canny</cp:lastModifiedBy>
  <cp:revision>1</cp:revision>
  <dcterms:created xsi:type="dcterms:W3CDTF">2013-01-27T09:14:16Z</dcterms:created>
  <dcterms:modified xsi:type="dcterms:W3CDTF">2013-01-27T09:15:58Z</dcterms:modified>
  <cp:category/>
</cp:coreProperties>
</file>